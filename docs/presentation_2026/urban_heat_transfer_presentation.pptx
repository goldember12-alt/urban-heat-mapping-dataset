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052333" y="-533400"/>
            <a:ext cx="2590735" cy="2590799"/>
          </a:xfrm>
          <a:prstGeom prst="ellipse">
            <a:avLst/>
          </a:prstGeom>
          <a:solidFill>
            <a:srgbClr val="D26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14314" y="4267200"/>
            <a:ext cx="1600159" cy="1600200"/>
          </a:xfrm>
          <a:prstGeom prst="ellipse">
            <a:avLst/>
          </a:prstGeom>
          <a:solidFill>
            <a:srgbClr val="3A7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70543" y="1066800"/>
            <a:ext cx="3581310" cy="76200"/>
          </a:xfrm>
          <a:prstGeom prst="roundRect">
            <a:avLst/>
          </a:prstGeom>
          <a:solidFill>
            <a:srgbClr val="D26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4824" y="1310640"/>
            <a:ext cx="7467413" cy="1905000"/>
          </a:xfrm>
          <a:prstGeom prst="rect">
            <a:avLst/>
          </a:prstGeom>
          <a:noFill/>
        </p:spPr>
        <p:txBody>
          <a:bodyPr wrap="square" lIns="50800" rIns="50800" tIns="50800" bIns="50800" anchor="t">
            <a:normAutofit/>
          </a:bodyPr>
          <a:lstStyle/>
          <a:p>
            <a:pPr algn="l"/>
            <a:r>
              <a:rPr sz="4100" b="1">
                <a:solidFill>
                  <a:srgbClr val="1E2A2F"/>
                </a:solidFill>
                <a:latin typeface="Arial"/>
              </a:rPr>
              <a:t>Cross-City Urban Heat</a:t>
            </a:r>
          </a:p>
          <a:p>
            <a:pPr algn="l"/>
            <a:r>
              <a:rPr sz="4100" b="1">
                <a:solidFill>
                  <a:srgbClr val="1E2A2F"/>
                </a:solidFill>
                <a:latin typeface="Arial"/>
              </a:rPr>
              <a:t>Hotspot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43" y="3276600"/>
            <a:ext cx="7010224" cy="365760"/>
          </a:xfrm>
          <a:prstGeom prst="rect">
            <a:avLst/>
          </a:prstGeom>
          <a:noFill/>
        </p:spPr>
        <p:txBody>
          <a:bodyPr wrap="square" lIns="50800" rIns="50800" tIns="50800" bIns="50800" anchor="t">
            <a:normAutofit/>
          </a:bodyPr>
          <a:lstStyle/>
          <a:p>
            <a:pPr algn="l"/>
            <a:r>
              <a:rPr sz="2200" b="1">
                <a:solidFill>
                  <a:srgbClr val="9A402D"/>
                </a:solidFill>
                <a:latin typeface="Arial"/>
              </a:rPr>
              <a:t>Two ways to evaluate hotspot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0543" y="3749039"/>
            <a:ext cx="5333866" cy="335280"/>
          </a:xfrm>
          <a:prstGeom prst="rect">
            <a:avLst/>
          </a:prstGeom>
          <a:noFill/>
        </p:spPr>
        <p:txBody>
          <a:bodyPr wrap="square" lIns="50800" rIns="50800" tIns="50800" bIns="50800" anchor="t">
            <a:normAutofit/>
          </a:bodyPr>
          <a:lstStyle/>
          <a:p>
            <a:pPr algn="l"/>
            <a:r>
              <a:rPr sz="2100" b="1">
                <a:solidFill>
                  <a:srgbClr val="254D5A"/>
                </a:solidFill>
                <a:latin typeface="Arial"/>
              </a:rPr>
              <a:t>Max Clements | Nicholas Machado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26" y="6019800"/>
            <a:ext cx="10362940" cy="441960"/>
          </a:xfrm>
          <a:prstGeom prst="roundRect">
            <a:avLst/>
          </a:prstGeom>
          <a:solidFill>
            <a:srgbClr val="EBE0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01" y="6126480"/>
            <a:ext cx="9981950" cy="213360"/>
          </a:xfrm>
          <a:prstGeom prst="rect">
            <a:avLst/>
          </a:prstGeom>
          <a:noFill/>
        </p:spPr>
        <p:txBody>
          <a:bodyPr wrap="square" lIns="50800" rIns="50800" tIns="50800" bIns="50800" anchor="t">
            <a:normAutofit/>
          </a:bodyPr>
          <a:lstStyle/>
          <a:p>
            <a:pPr algn="l"/>
            <a:r>
              <a:rPr sz="1800" b="0">
                <a:solidFill>
                  <a:srgbClr val="254D5A"/>
                </a:solidFill>
                <a:latin typeface="Arial"/>
              </a:rPr>
              <a:t>STAT 5630 Final Project |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230" y="274320"/>
            <a:ext cx="9753356" cy="335280"/>
          </a:xfrm>
          <a:prstGeom prst="rect">
            <a:avLst/>
          </a:prstGeom>
          <a:noFill/>
        </p:spPr>
        <p:txBody>
          <a:bodyPr wrap="square" lIns="50800" rIns="50800" tIns="50800" bIns="50800" anchor="t">
            <a:normAutofit/>
          </a:bodyPr>
          <a:lstStyle/>
          <a:p>
            <a:pPr algn="l"/>
            <a:r>
              <a:rPr sz="2500" b="1">
                <a:solidFill>
                  <a:srgbClr val="1E2A2F"/>
                </a:solidFill>
                <a:latin typeface="Arial"/>
              </a:rPr>
              <a:t>Research Question + Validation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31" y="777240"/>
            <a:ext cx="11551631" cy="5684520"/>
          </a:xfrm>
          <a:prstGeom prst="roundRect">
            <a:avLst/>
          </a:prstGeom>
          <a:solidFill>
            <a:srgbClr val="FFFDFA"/>
          </a:solidFill>
          <a:ln w="15240">
            <a:solidFill>
              <a:srgbClr val="DBC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etup_predictors_evaluation_ques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67" y="883920"/>
            <a:ext cx="11216359" cy="5364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230" y="274320"/>
            <a:ext cx="7467413" cy="335280"/>
          </a:xfrm>
          <a:prstGeom prst="rect">
            <a:avLst/>
          </a:prstGeom>
          <a:noFill/>
        </p:spPr>
        <p:txBody>
          <a:bodyPr wrap="square" lIns="50800" rIns="50800" tIns="50800" bIns="50800" anchor="t">
            <a:normAutofit/>
          </a:bodyPr>
          <a:lstStyle/>
          <a:p>
            <a:pPr algn="l"/>
            <a:r>
              <a:rPr sz="2500" b="1">
                <a:solidFill>
                  <a:srgbClr val="1E2A2F"/>
                </a:solidFill>
                <a:latin typeface="Arial"/>
              </a:rPr>
              <a:t>Modeling Section: Logistic vs Random Forest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31" y="777240"/>
            <a:ext cx="11551631" cy="5684520"/>
          </a:xfrm>
          <a:prstGeom prst="roundRect">
            <a:avLst/>
          </a:prstGeom>
          <a:solidFill>
            <a:srgbClr val="FFFDFA"/>
          </a:solidFill>
          <a:ln w="15240">
            <a:solidFill>
              <a:srgbClr val="DBC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istic_rf_model_m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67" y="883920"/>
            <a:ext cx="11216359" cy="5364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230" y="274320"/>
            <a:ext cx="10058148" cy="457200"/>
          </a:xfrm>
          <a:prstGeom prst="rect">
            <a:avLst/>
          </a:prstGeom>
          <a:noFill/>
        </p:spPr>
        <p:txBody>
          <a:bodyPr wrap="square" lIns="50800" rIns="50800" tIns="50800" bIns="50800" anchor="t">
            <a:normAutofit/>
          </a:bodyPr>
          <a:lstStyle/>
          <a:p>
            <a:pPr algn="l"/>
            <a:r>
              <a:rPr sz="2500" b="1">
                <a:solidFill>
                  <a:srgbClr val="1E2A2F"/>
                </a:solidFill>
                <a:latin typeface="Arial"/>
              </a:rPr>
              <a:t>Results Side by Side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35271" y="777240"/>
            <a:ext cx="11521151" cy="5684520"/>
          </a:xfrm>
          <a:prstGeom prst="roundRect">
            <a:avLst/>
          </a:prstGeom>
          <a:solidFill>
            <a:srgbClr val="FFFDFA"/>
          </a:solidFill>
          <a:ln w="15240">
            <a:solidFill>
              <a:srgbClr val="DBC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ithin_city_vs_transfer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86" y="883920"/>
            <a:ext cx="11124921" cy="5364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230" y="274320"/>
            <a:ext cx="10058148" cy="350520"/>
          </a:xfrm>
          <a:prstGeom prst="rect">
            <a:avLst/>
          </a:prstGeom>
          <a:noFill/>
        </p:spPr>
        <p:txBody>
          <a:bodyPr wrap="square" lIns="50800" rIns="50800" tIns="50800" bIns="50800" anchor="t">
            <a:normAutofit/>
          </a:bodyPr>
          <a:lstStyle/>
          <a:p>
            <a:pPr algn="l"/>
            <a:r>
              <a:rPr sz="2500" b="1">
                <a:solidFill>
                  <a:srgbClr val="1E2A2F"/>
                </a:solidFill>
                <a:latin typeface="Arial"/>
              </a:rPr>
              <a:t>City-Level Signal Shifts Across Evaluation Designs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35271" y="777240"/>
            <a:ext cx="11521151" cy="5684520"/>
          </a:xfrm>
          <a:prstGeom prst="roundRect">
            <a:avLst/>
          </a:prstGeom>
          <a:solidFill>
            <a:srgbClr val="FFFDFA"/>
          </a:solidFill>
          <a:ln w="15240">
            <a:solidFill>
              <a:srgbClr val="DBC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ity_signal_transfer_relations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86" y="883920"/>
            <a:ext cx="11124921" cy="5364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230" y="274320"/>
            <a:ext cx="11124921" cy="457200"/>
          </a:xfrm>
          <a:prstGeom prst="rect">
            <a:avLst/>
          </a:prstGeom>
          <a:noFill/>
        </p:spPr>
        <p:txBody>
          <a:bodyPr wrap="square" lIns="50800" rIns="50800" tIns="50800" bIns="50800" anchor="t">
            <a:normAutofit/>
          </a:bodyPr>
          <a:lstStyle/>
          <a:p>
            <a:pPr algn="l"/>
            <a:r>
              <a:rPr sz="2500" b="1">
                <a:solidFill>
                  <a:srgbClr val="1E2A2F"/>
                </a:solidFill>
                <a:latin typeface="Arial"/>
              </a:rPr>
              <a:t>Held-Out Denver Map Example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35271" y="777240"/>
            <a:ext cx="11521151" cy="5684520"/>
          </a:xfrm>
          <a:prstGeom prst="roundRect">
            <a:avLst/>
          </a:prstGeom>
          <a:solidFill>
            <a:srgbClr val="FFFDFA"/>
          </a:solidFill>
          <a:ln w="15240">
            <a:solidFill>
              <a:srgbClr val="DBC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eldout_denver_map_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86" y="883920"/>
            <a:ext cx="11124921" cy="5364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296167" y="304800"/>
            <a:ext cx="2438339" cy="2438400"/>
          </a:xfrm>
          <a:prstGeom prst="ellipse">
            <a:avLst/>
          </a:prstGeom>
          <a:solidFill>
            <a:srgbClr val="D26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14314" y="4267200"/>
            <a:ext cx="1600159" cy="1600200"/>
          </a:xfrm>
          <a:prstGeom prst="ellipse">
            <a:avLst/>
          </a:prstGeom>
          <a:solidFill>
            <a:srgbClr val="3A7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63" y="2164080"/>
            <a:ext cx="4571885" cy="716280"/>
          </a:xfrm>
          <a:prstGeom prst="rect">
            <a:avLst/>
          </a:prstGeom>
          <a:noFill/>
        </p:spPr>
        <p:txBody>
          <a:bodyPr wrap="square" lIns="50800" rIns="50800" tIns="50800" bIns="50800" anchor="t">
            <a:normAutofit/>
          </a:bodyPr>
          <a:lstStyle/>
          <a:p>
            <a:pPr algn="l"/>
            <a:r>
              <a:rPr sz="4200" b="1">
                <a:solidFill>
                  <a:srgbClr val="1E2A2F"/>
                </a:solidFill>
                <a:latin typeface="Arial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