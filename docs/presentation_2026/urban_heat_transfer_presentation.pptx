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067573" y="-609600"/>
            <a:ext cx="2438339" cy="2438400"/>
          </a:xfrm>
          <a:prstGeom prst="ellipse">
            <a:avLst/>
          </a:prstGeom>
          <a:solidFill>
            <a:srgbClr val="D26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77158" y="4267200"/>
            <a:ext cx="1752556" cy="1752599"/>
          </a:xfrm>
          <a:prstGeom prst="ellipse">
            <a:avLst/>
          </a:prstGeom>
          <a:solidFill>
            <a:srgbClr val="3A7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26" y="655320"/>
            <a:ext cx="2224984" cy="411479"/>
          </a:xfrm>
          <a:prstGeom prst="roundRect">
            <a:avLst/>
          </a:prstGeom>
          <a:solidFill>
            <a:srgbClr val="D26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01" y="723900"/>
            <a:ext cx="1828754" cy="259080"/>
          </a:xfrm>
          <a:prstGeom prst="rect">
            <a:avLst/>
          </a:prstGeom>
          <a:noFill/>
        </p:spPr>
        <p:txBody>
          <a:bodyPr wrap="square" lIns="63500" rIns="63500" tIns="63500" bIns="63500" anchor="t">
            <a:spAutoFit/>
          </a:bodyPr>
          <a:lstStyle/>
          <a:p>
            <a:pPr algn="l"/>
            <a:r>
              <a:rPr sz="1800" b="1">
                <a:solidFill>
                  <a:srgbClr val="FFFDFA"/>
                </a:solidFill>
                <a:latin typeface="Arial"/>
              </a:rPr>
              <a:t>Held-out-city transfer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3865" y="1432560"/>
            <a:ext cx="5943451" cy="1295399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2900" b="1">
                <a:solidFill>
                  <a:srgbClr val="1E2A2F"/>
                </a:solidFill>
                <a:latin typeface="Arial"/>
              </a:rPr>
              <a:t>Cross-City Urban Heat</a:t>
            </a:r>
          </a:p>
          <a:p>
            <a:pPr algn="l"/>
            <a:r>
              <a:rPr sz="2900" b="1">
                <a:solidFill>
                  <a:srgbClr val="1E2A2F"/>
                </a:solidFill>
                <a:latin typeface="Arial"/>
              </a:rPr>
              <a:t>Hotspot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45" y="2910840"/>
            <a:ext cx="4267093" cy="42672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1800" b="0">
                <a:solidFill>
                  <a:srgbClr val="5C696D"/>
                </a:solidFill>
                <a:latin typeface="Arial"/>
              </a:rPr>
              <a:t>30 cities | 71.4M cells | unseen-city hotspot screening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45" y="4267200"/>
            <a:ext cx="4267093" cy="472439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2300" b="1">
                <a:solidFill>
                  <a:srgbClr val="254D5A"/>
                </a:solidFill>
                <a:latin typeface="Arial"/>
              </a:rPr>
              <a:t>Max Clements | Nicholas Machado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45" y="4876800"/>
            <a:ext cx="4724281" cy="35052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1600" b="0">
                <a:solidFill>
                  <a:srgbClr val="5C696D"/>
                </a:solidFill>
                <a:latin typeface="Arial"/>
              </a:rPr>
              <a:t>STAT 5630 Final Project | April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39841" y="1508760"/>
            <a:ext cx="2499297" cy="2712720"/>
          </a:xfrm>
          <a:prstGeom prst="roundRect">
            <a:avLst/>
          </a:prstGeom>
          <a:solidFill>
            <a:srgbClr val="FFF8EF"/>
          </a:solidFill>
          <a:ln w="1270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57988" y="2057400"/>
            <a:ext cx="655303" cy="655320"/>
          </a:xfrm>
          <a:prstGeom prst="ellipse">
            <a:avLst/>
          </a:prstGeom>
          <a:solidFill>
            <a:srgbClr val="3A7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33324" y="1676400"/>
            <a:ext cx="655303" cy="655320"/>
          </a:xfrm>
          <a:prstGeom prst="ellipse">
            <a:avLst/>
          </a:prstGeom>
          <a:solidFill>
            <a:srgbClr val="8AA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33324" y="2910840"/>
            <a:ext cx="655303" cy="655320"/>
          </a:xfrm>
          <a:prstGeom prst="ellipse">
            <a:avLst/>
          </a:prstGeom>
          <a:solidFill>
            <a:srgbClr val="D26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evron 13"/>
          <p:cNvSpPr/>
          <p:nvPr/>
        </p:nvSpPr>
        <p:spPr>
          <a:xfrm>
            <a:off x="9052333" y="2286000"/>
            <a:ext cx="335271" cy="350520"/>
          </a:xfrm>
          <a:prstGeom prst="chevron">
            <a:avLst/>
          </a:prstGeom>
          <a:solidFill>
            <a:srgbClr val="254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9753356" y="2606040"/>
            <a:ext cx="335271" cy="350520"/>
          </a:xfrm>
          <a:prstGeom prst="chevron">
            <a:avLst/>
          </a:prstGeom>
          <a:solidFill>
            <a:srgbClr val="9A4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592" y="3581400"/>
            <a:ext cx="1798275" cy="33528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ctr"/>
            <a:r>
              <a:rPr sz="1500" b="1">
                <a:solidFill>
                  <a:srgbClr val="5C696D"/>
                </a:solidFill>
                <a:latin typeface="Arial"/>
              </a:rPr>
              <a:t>seen cities -&gt; unseen city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00959" y="-457200"/>
            <a:ext cx="1981150" cy="1828800"/>
          </a:xfrm>
          <a:prstGeom prst="ellipse">
            <a:avLst/>
          </a:prstGeom>
          <a:solidFill>
            <a:srgbClr val="D26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188" y="289560"/>
            <a:ext cx="2514537" cy="259080"/>
          </a:xfrm>
          <a:prstGeom prst="rect">
            <a:avLst/>
          </a:prstGeom>
          <a:noFill/>
        </p:spPr>
        <p:txBody>
          <a:bodyPr wrap="square" lIns="63500" rIns="63500" tIns="63500" bIns="63500" anchor="t">
            <a:spAutoFit/>
          </a:bodyPr>
          <a:lstStyle/>
          <a:p>
            <a:pPr algn="l"/>
            <a:r>
              <a:rPr sz="1800" b="1">
                <a:solidFill>
                  <a:srgbClr val="254D5A"/>
                </a:solidFill>
                <a:latin typeface="Arial"/>
              </a:rPr>
              <a:t>Why transfer matters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6230" y="670560"/>
            <a:ext cx="11399235" cy="3749039"/>
          </a:xfrm>
          <a:prstGeom prst="roundRect">
            <a:avLst/>
          </a:prstGeom>
          <a:solidFill>
            <a:srgbClr val="FFFDFA"/>
          </a:solidFill>
          <a:ln w="1778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nsfer_problem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63" y="883920"/>
            <a:ext cx="10896327" cy="3337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46741" y="4846320"/>
            <a:ext cx="2179265" cy="426720"/>
          </a:xfrm>
          <a:prstGeom prst="roundRect">
            <a:avLst/>
          </a:prstGeom>
          <a:solidFill>
            <a:srgbClr val="9A4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9616" y="4922520"/>
            <a:ext cx="1783035" cy="25908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1900" b="1">
                <a:solidFill>
                  <a:srgbClr val="FFFDFA"/>
                </a:solidFill>
                <a:latin typeface="Arial"/>
              </a:rPr>
              <a:t>Research question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6230" y="5318760"/>
            <a:ext cx="11399235" cy="990599"/>
          </a:xfrm>
          <a:prstGeom prst="roundRect">
            <a:avLst/>
          </a:prstGeom>
          <a:solidFill>
            <a:srgbClr val="DF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1980" y="5532120"/>
            <a:ext cx="10515337" cy="53340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ctr"/>
            <a:r>
              <a:rPr sz="2600" b="1">
                <a:solidFill>
                  <a:srgbClr val="1E2A2F"/>
                </a:solidFill>
                <a:latin typeface="Arial"/>
              </a:rPr>
              <a:t>Can a model trained on some cities find heat hotspots in a city it has never seen?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41948" y="274320"/>
            <a:ext cx="3200319" cy="259080"/>
          </a:xfrm>
          <a:prstGeom prst="rect">
            <a:avLst/>
          </a:prstGeom>
          <a:noFill/>
        </p:spPr>
        <p:txBody>
          <a:bodyPr wrap="square" lIns="63500" rIns="63500" tIns="63500" bIns="63500" anchor="t">
            <a:spAutoFit/>
          </a:bodyPr>
          <a:lstStyle/>
          <a:p>
            <a:pPr algn="l"/>
            <a:r>
              <a:rPr sz="1800" b="1">
                <a:solidFill>
                  <a:srgbClr val="254D5A"/>
                </a:solidFill>
                <a:latin typeface="Arial"/>
              </a:rPr>
              <a:t>Data + evaluation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96230" y="655320"/>
            <a:ext cx="2179265" cy="899160"/>
          </a:xfrm>
          <a:prstGeom prst="roundRect">
            <a:avLst/>
          </a:prstGeom>
          <a:solidFill>
            <a:srgbClr val="FFFAF2"/>
          </a:solidFill>
          <a:ln w="1270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3865" y="807720"/>
            <a:ext cx="1843993" cy="32004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3600" b="1">
                <a:solidFill>
                  <a:srgbClr val="1E2A2F"/>
                </a:solidFill>
                <a:latin typeface="Arial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3865" y="1158240"/>
            <a:ext cx="1371565" cy="21336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1600" b="0">
                <a:solidFill>
                  <a:srgbClr val="5C696D"/>
                </a:solidFill>
                <a:latin typeface="Arial"/>
              </a:rPr>
              <a:t>cities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19329" y="655320"/>
            <a:ext cx="2179265" cy="899160"/>
          </a:xfrm>
          <a:prstGeom prst="roundRect">
            <a:avLst/>
          </a:prstGeom>
          <a:solidFill>
            <a:srgbClr val="FFFAF2"/>
          </a:solidFill>
          <a:ln w="1270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86965" y="807720"/>
            <a:ext cx="1843993" cy="32004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3000" b="1">
                <a:solidFill>
                  <a:srgbClr val="1E2A2F"/>
                </a:solidFill>
                <a:latin typeface="Arial"/>
              </a:rPr>
              <a:t>71,394,894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86965" y="1158240"/>
            <a:ext cx="1371565" cy="21336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1600" b="0">
                <a:solidFill>
                  <a:srgbClr val="5C696D"/>
                </a:solidFill>
                <a:latin typeface="Arial"/>
              </a:rPr>
              <a:t>rows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42428" y="655320"/>
            <a:ext cx="2179265" cy="899160"/>
          </a:xfrm>
          <a:prstGeom prst="roundRect">
            <a:avLst/>
          </a:prstGeom>
          <a:solidFill>
            <a:srgbClr val="FFFAF2"/>
          </a:solidFill>
          <a:ln w="1270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0064" y="807720"/>
            <a:ext cx="1843993" cy="32004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3600" b="1">
                <a:solidFill>
                  <a:srgbClr val="1E2A2F"/>
                </a:solidFill>
                <a:latin typeface="Arial"/>
              </a:rPr>
              <a:t>30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10064" y="1158240"/>
            <a:ext cx="1371565" cy="21336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1600" b="0">
                <a:solidFill>
                  <a:srgbClr val="5C696D"/>
                </a:solidFill>
                <a:latin typeface="Arial"/>
              </a:rPr>
              <a:t>grid cell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65528" y="655320"/>
            <a:ext cx="2179265" cy="899160"/>
          </a:xfrm>
          <a:prstGeom prst="roundRect">
            <a:avLst/>
          </a:prstGeom>
          <a:solidFill>
            <a:srgbClr val="FFFAF2"/>
          </a:solidFill>
          <a:ln w="1270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33164" y="807720"/>
            <a:ext cx="1843993" cy="32004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2600" b="1">
                <a:solidFill>
                  <a:srgbClr val="1E2A2F"/>
                </a:solidFill>
                <a:latin typeface="Arial"/>
              </a:rPr>
              <a:t>hotspot_10pct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3164" y="1158240"/>
            <a:ext cx="1371565" cy="21336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1600" b="0">
                <a:solidFill>
                  <a:srgbClr val="5C696D"/>
                </a:solidFill>
                <a:latin typeface="Arial"/>
              </a:rPr>
              <a:t>target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627" y="655320"/>
            <a:ext cx="1706837" cy="899160"/>
          </a:xfrm>
          <a:prstGeom prst="roundRect">
            <a:avLst/>
          </a:prstGeom>
          <a:solidFill>
            <a:srgbClr val="D26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39139" y="792479"/>
            <a:ext cx="975335" cy="27432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ctr"/>
            <a:r>
              <a:rPr sz="3400" b="1">
                <a:solidFill>
                  <a:srgbClr val="FFFDFA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6742" y="1158240"/>
            <a:ext cx="1310607" cy="198119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ctr"/>
            <a:r>
              <a:rPr sz="1500" b="0">
                <a:solidFill>
                  <a:srgbClr val="FFFDFA"/>
                </a:solidFill>
                <a:latin typeface="Arial"/>
              </a:rPr>
              <a:t>outer folds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230" y="1813559"/>
            <a:ext cx="11399235" cy="3810000"/>
          </a:xfrm>
          <a:prstGeom prst="roundRect">
            <a:avLst/>
          </a:prstGeom>
          <a:solidFill>
            <a:srgbClr val="FFFDFA"/>
          </a:solidFill>
          <a:ln w="1778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heldout_city_cv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63" y="2072640"/>
            <a:ext cx="10896327" cy="31242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1432524" y="5852160"/>
            <a:ext cx="9311407" cy="487680"/>
          </a:xfrm>
          <a:prstGeom prst="roundRect">
            <a:avLst/>
          </a:prstGeom>
          <a:solidFill>
            <a:srgbClr val="EBE0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76358" y="5974080"/>
            <a:ext cx="8838979" cy="21336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ctr"/>
            <a:r>
              <a:rPr sz="1700" b="1">
                <a:solidFill>
                  <a:srgbClr val="254D5A"/>
                </a:solidFill>
                <a:latin typeface="Arial"/>
              </a:rPr>
              <a:t>Train, tune, and preprocess only on seen cities before scoring unseen cities.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13" y="228600"/>
            <a:ext cx="3474633" cy="6248400"/>
          </a:xfrm>
          <a:prstGeom prst="roundRect">
            <a:avLst/>
          </a:prstGeom>
          <a:solidFill>
            <a:srgbClr val="FFFAF2"/>
          </a:solidFill>
          <a:ln w="1270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72428" y="472439"/>
            <a:ext cx="3078403" cy="426720"/>
          </a:xfrm>
          <a:prstGeom prst="roundRect">
            <a:avLst/>
          </a:prstGeom>
          <a:solidFill>
            <a:srgbClr val="3A7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782" y="548640"/>
            <a:ext cx="2636454" cy="22860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1800" b="1">
                <a:solidFill>
                  <a:srgbClr val="FFFDFA"/>
                </a:solidFill>
                <a:latin typeface="Arial"/>
              </a:rPr>
              <a:t>Same predictor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428" y="1051560"/>
            <a:ext cx="2910767" cy="70104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1800" b="0">
                <a:solidFill>
                  <a:srgbClr val="1E2A2F"/>
                </a:solidFill>
                <a:latin typeface="Arial"/>
              </a:rPr>
              <a:t>Inputs exclude LST itself.</a:t>
            </a:r>
          </a:p>
          <a:p>
            <a:pPr algn="l"/>
            <a:r>
              <a:rPr sz="1800" b="0">
                <a:solidFill>
                  <a:srgbClr val="1E2A2F"/>
                </a:solidFill>
                <a:latin typeface="Arial"/>
              </a:rPr>
              <a:t>The comparison isolates linear</a:t>
            </a:r>
          </a:p>
          <a:p>
            <a:pPr algn="l"/>
            <a:r>
              <a:rPr sz="1800" b="0">
                <a:solidFill>
                  <a:srgbClr val="1E2A2F"/>
                </a:solidFill>
                <a:latin typeface="Arial"/>
              </a:rPr>
              <a:t>versus nonlinear transfer.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26" y="1874519"/>
            <a:ext cx="2910767" cy="1463040"/>
          </a:xfrm>
          <a:prstGeom prst="roundRect">
            <a:avLst/>
          </a:prstGeom>
          <a:solidFill>
            <a:srgbClr val="FFFDFA"/>
          </a:solidFill>
          <a:ln w="12700">
            <a:solidFill>
              <a:srgbClr val="D9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01" y="2026920"/>
            <a:ext cx="1981150" cy="21336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2100" b="1">
                <a:solidFill>
                  <a:srgbClr val="1E2A2F"/>
                </a:solidFill>
                <a:latin typeface="Arial"/>
              </a:rPr>
              <a:t>Logistic regression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01" y="2392680"/>
            <a:ext cx="2057348" cy="411479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1600" b="1">
                <a:solidFill>
                  <a:srgbClr val="9A402D"/>
                </a:solidFill>
                <a:latin typeface="Arial"/>
              </a:rPr>
              <a:t>Pr(Y=1|x) = sigma(beta_0 + x^T beta)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01" y="2910840"/>
            <a:ext cx="1889712" cy="198119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1500" b="0">
                <a:solidFill>
                  <a:srgbClr val="5C696D"/>
                </a:solidFill>
                <a:latin typeface="Arial"/>
              </a:rPr>
              <a:t>Linear additive baseline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26" y="3474720"/>
            <a:ext cx="2910767" cy="1463040"/>
          </a:xfrm>
          <a:prstGeom prst="roundRect">
            <a:avLst/>
          </a:prstGeom>
          <a:solidFill>
            <a:srgbClr val="FFFDFA"/>
          </a:solidFill>
          <a:ln w="12700">
            <a:solidFill>
              <a:srgbClr val="D9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01" y="3627119"/>
            <a:ext cx="1752556" cy="21336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2100" b="1">
                <a:solidFill>
                  <a:srgbClr val="1E2A2F"/>
                </a:solidFill>
                <a:latin typeface="Arial"/>
              </a:rPr>
              <a:t>Random forest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01" y="3992879"/>
            <a:ext cx="1935431" cy="411479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1600" b="1">
                <a:solidFill>
                  <a:srgbClr val="9A402D"/>
                </a:solidFill>
                <a:latin typeface="Arial"/>
              </a:rPr>
              <a:t>p_hat(x) = (1/B) sum T_b(x)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01" y="4511040"/>
            <a:ext cx="1904952" cy="25908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1500" b="0">
                <a:solidFill>
                  <a:srgbClr val="5C696D"/>
                </a:solidFill>
                <a:latin typeface="Arial"/>
              </a:rPr>
              <a:t>Tree ensemble for nonlinear effects</a:t>
            </a:r>
          </a:p>
        </p:txBody>
      </p:sp>
      <p:pic>
        <p:nvPicPr>
          <p:cNvPr id="14" name="Picture 13" descr="cross_city_benchmark_report_benchmark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821" y="182880"/>
            <a:ext cx="7863643" cy="35661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008019" y="4038600"/>
            <a:ext cx="2377380" cy="1249680"/>
          </a:xfrm>
          <a:prstGeom prst="roundRect">
            <a:avLst/>
          </a:prstGeom>
          <a:solidFill>
            <a:srgbClr val="9A4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90895" y="4221480"/>
            <a:ext cx="2011629" cy="30480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1600" b="1">
                <a:solidFill>
                  <a:srgbClr val="FFFDFA"/>
                </a:solidFill>
                <a:latin typeface="Arial"/>
              </a:rPr>
              <a:t>RF pooled PR AUC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0895" y="4587240"/>
            <a:ext cx="2011629" cy="32004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2800" b="1">
                <a:solidFill>
                  <a:srgbClr val="FFFDFA"/>
                </a:solidFill>
                <a:latin typeface="Arial"/>
              </a:rPr>
              <a:t>0.1486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4953" y="4038600"/>
            <a:ext cx="2377380" cy="1249680"/>
          </a:xfrm>
          <a:prstGeom prst="roundRect">
            <a:avLst/>
          </a:prstGeom>
          <a:solidFill>
            <a:srgbClr val="3A7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7828" y="4221480"/>
            <a:ext cx="2011629" cy="30480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1600" b="1">
                <a:solidFill>
                  <a:srgbClr val="FFFDFA"/>
                </a:solidFill>
                <a:latin typeface="Arial"/>
              </a:rPr>
              <a:t>RF recall@10%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7828" y="4587240"/>
            <a:ext cx="2011629" cy="32004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2800" b="1">
                <a:solidFill>
                  <a:srgbClr val="FFFDFA"/>
                </a:solidFill>
                <a:latin typeface="Arial"/>
              </a:rPr>
              <a:t>0.1961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1886" y="4038600"/>
            <a:ext cx="2377380" cy="1249680"/>
          </a:xfrm>
          <a:prstGeom prst="roundRect">
            <a:avLst/>
          </a:prstGeom>
          <a:solidFill>
            <a:srgbClr val="EFE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24761" y="4221480"/>
            <a:ext cx="2011629" cy="30480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1600" b="1">
                <a:solidFill>
                  <a:srgbClr val="1E2A2F"/>
                </a:solidFill>
                <a:latin typeface="Arial"/>
              </a:rPr>
              <a:t>Logistic mean city PR AUC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24761" y="4587240"/>
            <a:ext cx="2011629" cy="32004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2800" b="1">
                <a:solidFill>
                  <a:srgbClr val="1E2A2F"/>
                </a:solidFill>
                <a:latin typeface="Arial"/>
              </a:rPr>
              <a:t>0.1803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08019" y="5669280"/>
            <a:ext cx="7680767" cy="533400"/>
          </a:xfrm>
          <a:prstGeom prst="roundRect">
            <a:avLst/>
          </a:prstGeom>
          <a:solidFill>
            <a:srgbClr val="EBE2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21374" y="5806440"/>
            <a:ext cx="7223579" cy="25908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1500" b="0">
                <a:solidFill>
                  <a:srgbClr val="5C696D"/>
                </a:solidFill>
                <a:latin typeface="Arial"/>
              </a:rPr>
              <a:t>Matched sampled all-fold checkpoints; not exhaustive 71M-cell scoring.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75" y="152400"/>
            <a:ext cx="11825944" cy="5516880"/>
          </a:xfrm>
          <a:prstGeom prst="roundRect">
            <a:avLst/>
          </a:prstGeom>
          <a:solidFill>
            <a:srgbClr val="FFFDFA"/>
          </a:solidFill>
          <a:ln w="1270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enver_heldout_map_tripty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52" y="289560"/>
            <a:ext cx="11612589" cy="52425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304792" y="5882640"/>
            <a:ext cx="8122716" cy="640080"/>
          </a:xfrm>
          <a:prstGeom prst="roundRect">
            <a:avLst/>
          </a:prstGeom>
          <a:solidFill>
            <a:srgbClr val="F0E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8147" y="6035040"/>
            <a:ext cx="7696007" cy="32004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2500" b="1">
                <a:solidFill>
                  <a:srgbClr val="1E2A2F"/>
                </a:solidFill>
                <a:latin typeface="Arial"/>
              </a:rPr>
              <a:t>Prediction errors remain spatially structured rather than random.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10384" y="5943600"/>
            <a:ext cx="3154601" cy="518160"/>
          </a:xfrm>
          <a:prstGeom prst="roundRect">
            <a:avLst/>
          </a:prstGeom>
          <a:solidFill>
            <a:srgbClr val="3A7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54218" y="6065520"/>
            <a:ext cx="2651693" cy="22860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ctr"/>
            <a:r>
              <a:rPr sz="1800" b="1">
                <a:solidFill>
                  <a:srgbClr val="FFFDFA"/>
                </a:solidFill>
                <a:latin typeface="Arial"/>
              </a:rPr>
              <a:t>RF frontier | hot-arid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77158" y="-609600"/>
            <a:ext cx="2285942" cy="1981199"/>
          </a:xfrm>
          <a:prstGeom prst="ellipse">
            <a:avLst/>
          </a:prstGeom>
          <a:solidFill>
            <a:srgbClr val="D26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96230" y="411479"/>
            <a:ext cx="11353516" cy="1356360"/>
          </a:xfrm>
          <a:prstGeom prst="roundRect">
            <a:avLst/>
          </a:prstGeom>
          <a:solidFill>
            <a:srgbClr val="FFFDFA"/>
          </a:solidFill>
          <a:ln w="1270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1022" y="701040"/>
            <a:ext cx="10362940" cy="761999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2800" b="1">
                <a:solidFill>
                  <a:srgbClr val="1E2A2F"/>
                </a:solidFill>
                <a:latin typeface="Arial"/>
              </a:rPr>
              <a:t>Yes: cross-city hotspot transfer is feasible, but performance is not yet uniform across climates.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26" y="2392680"/>
            <a:ext cx="3200319" cy="2834640"/>
          </a:xfrm>
          <a:prstGeom prst="roundRect">
            <a:avLst/>
          </a:prstGeom>
          <a:solidFill>
            <a:srgbClr val="9A4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1980" y="2590799"/>
            <a:ext cx="411469" cy="411479"/>
          </a:xfrm>
          <a:prstGeom prst="ellipse">
            <a:avLst/>
          </a:prstGeom>
          <a:solidFill>
            <a:srgbClr val="FF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95367" y="2621280"/>
            <a:ext cx="1584920" cy="21336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2100" b="1">
                <a:solidFill>
                  <a:srgbClr val="FFFDFA"/>
                </a:solidFill>
                <a:latin typeface="Arial"/>
              </a:rPr>
              <a:t>Signal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01" y="3185160"/>
            <a:ext cx="2834569" cy="1341120"/>
          </a:xfrm>
          <a:prstGeom prst="roundRect">
            <a:avLst/>
          </a:prstGeom>
          <a:solidFill>
            <a:srgbClr val="F8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3897" y="3413760"/>
            <a:ext cx="2529776" cy="64008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2200" b="1">
                <a:solidFill>
                  <a:srgbClr val="1E2A2F"/>
                </a:solidFill>
                <a:latin typeface="Arial"/>
              </a:rPr>
              <a:t>RF &gt; logistic</a:t>
            </a:r>
          </a:p>
          <a:p>
            <a:pPr algn="l"/>
            <a:r>
              <a:rPr sz="2200" b="1">
                <a:solidFill>
                  <a:srgbClr val="1E2A2F"/>
                </a:solidFill>
                <a:latin typeface="Arial"/>
              </a:rPr>
              <a:t>PR AUC 0.1486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3897" y="4678680"/>
            <a:ext cx="2529776" cy="22860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1500" b="0">
                <a:solidFill>
                  <a:srgbClr val="5C696D"/>
                </a:solidFill>
                <a:latin typeface="Arial"/>
              </a:rPr>
              <a:t>best current benchmark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7093" y="2392680"/>
            <a:ext cx="3200319" cy="2834640"/>
          </a:xfrm>
          <a:prstGeom prst="roundRect">
            <a:avLst/>
          </a:prstGeom>
          <a:solidFill>
            <a:srgbClr val="3A7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80447" y="2590799"/>
            <a:ext cx="411469" cy="411479"/>
          </a:xfrm>
          <a:prstGeom prst="ellipse">
            <a:avLst/>
          </a:prstGeom>
          <a:solidFill>
            <a:srgbClr val="FF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13834" y="2621280"/>
            <a:ext cx="1584920" cy="21336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2100" b="1">
                <a:solidFill>
                  <a:srgbClr val="FFFDFA"/>
                </a:solidFill>
                <a:latin typeface="Arial"/>
              </a:rPr>
              <a:t>Caveat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49968" y="3185160"/>
            <a:ext cx="2834569" cy="1341120"/>
          </a:xfrm>
          <a:prstGeom prst="roundRect">
            <a:avLst/>
          </a:prstGeom>
          <a:solidFill>
            <a:srgbClr val="F8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02364" y="3413760"/>
            <a:ext cx="2529776" cy="64008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2200" b="1">
                <a:solidFill>
                  <a:srgbClr val="1E2A2F"/>
                </a:solidFill>
                <a:latin typeface="Arial"/>
              </a:rPr>
              <a:t>sampled all-fold</a:t>
            </a:r>
          </a:p>
          <a:p>
            <a:pPr algn="l"/>
            <a:r>
              <a:rPr sz="2200" b="1">
                <a:solidFill>
                  <a:srgbClr val="1E2A2F"/>
                </a:solidFill>
                <a:latin typeface="Arial"/>
              </a:rPr>
              <a:t>benchmark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2364" y="4678680"/>
            <a:ext cx="2529776" cy="22860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1500" b="0">
                <a:solidFill>
                  <a:srgbClr val="5C696D"/>
                </a:solidFill>
                <a:latin typeface="Arial"/>
              </a:rPr>
              <a:t>not exhaustive 71M-cell scoring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85560" y="2392680"/>
            <a:ext cx="3200319" cy="2834640"/>
          </a:xfrm>
          <a:prstGeom prst="roundRect">
            <a:avLst/>
          </a:prstGeom>
          <a:solidFill>
            <a:srgbClr val="E8DC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98915" y="2590799"/>
            <a:ext cx="411469" cy="411479"/>
          </a:xfrm>
          <a:prstGeom prst="ellipse">
            <a:avLst/>
          </a:prstGeom>
          <a:solidFill>
            <a:srgbClr val="FFF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301" y="2621280"/>
            <a:ext cx="1584920" cy="21336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2100" b="1">
                <a:solidFill>
                  <a:srgbClr val="1E2A2F"/>
                </a:solidFill>
                <a:latin typeface="Arial"/>
              </a:rPr>
              <a:t>Next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68435" y="3185160"/>
            <a:ext cx="2834569" cy="1341120"/>
          </a:xfrm>
          <a:prstGeom prst="roundRect">
            <a:avLst/>
          </a:prstGeom>
          <a:solidFill>
            <a:srgbClr val="FF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0831" y="3413760"/>
            <a:ext cx="2529776" cy="64008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2200" b="1">
                <a:solidFill>
                  <a:srgbClr val="1E2A2F"/>
                </a:solidFill>
                <a:latin typeface="Arial"/>
              </a:rPr>
              <a:t>full scoring +</a:t>
            </a:r>
          </a:p>
          <a:p>
            <a:pPr algn="l"/>
            <a:r>
              <a:rPr sz="2200" b="1">
                <a:solidFill>
                  <a:srgbClr val="1E2A2F"/>
                </a:solidFill>
                <a:latin typeface="Arial"/>
              </a:rPr>
              <a:t>climate-shift diagnosis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0831" y="4678680"/>
            <a:ext cx="2529776" cy="22860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1500" b="0">
                <a:solidFill>
                  <a:srgbClr val="5C696D"/>
                </a:solidFill>
                <a:latin typeface="Arial"/>
              </a:rPr>
              <a:t>next analytic priority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296167" y="304800"/>
            <a:ext cx="2438339" cy="2438400"/>
          </a:xfrm>
          <a:prstGeom prst="ellipse">
            <a:avLst/>
          </a:prstGeom>
          <a:solidFill>
            <a:srgbClr val="D26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356" y="4267200"/>
            <a:ext cx="1676358" cy="1676400"/>
          </a:xfrm>
          <a:prstGeom prst="ellipse">
            <a:avLst/>
          </a:prstGeom>
          <a:solidFill>
            <a:srgbClr val="3A7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865" y="838200"/>
            <a:ext cx="1752556" cy="380999"/>
          </a:xfrm>
          <a:prstGeom prst="roundRect">
            <a:avLst/>
          </a:prstGeom>
          <a:solidFill>
            <a:srgbClr val="9A4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6741" y="899160"/>
            <a:ext cx="1386805" cy="22860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1700" b="1">
                <a:solidFill>
                  <a:srgbClr val="FFFDFA"/>
                </a:solidFill>
                <a:latin typeface="Arial"/>
              </a:rPr>
              <a:t>Cross-city urban heat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45" y="2042159"/>
            <a:ext cx="3962300" cy="62484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3800" b="1">
                <a:solidFill>
                  <a:srgbClr val="1E2A2F"/>
                </a:solidFill>
                <a:latin typeface="Arial"/>
              </a:rPr>
              <a:t>Questions?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584" y="2895600"/>
            <a:ext cx="4724281" cy="320040"/>
          </a:xfrm>
          <a:prstGeom prst="rect">
            <a:avLst/>
          </a:prstGeom>
          <a:noFill/>
        </p:spPr>
        <p:txBody>
          <a:bodyPr wrap="square" lIns="63500" rIns="63500" tIns="63500" bIns="63500" anchor="t">
            <a:normAutofit/>
          </a:bodyPr>
          <a:lstStyle/>
          <a:p>
            <a:pPr algn="l"/>
            <a:r>
              <a:rPr sz="1800" b="1">
                <a:solidFill>
                  <a:srgbClr val="5C696D"/>
                </a:solidFill>
                <a:latin typeface="Arial"/>
              </a:rPr>
              <a:t>Max Clements | Nicholas Machado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