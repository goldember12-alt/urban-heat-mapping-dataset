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867253" y="-914400"/>
            <a:ext cx="4724281" cy="5943600"/>
          </a:xfrm>
          <a:prstGeom prst="ellipse">
            <a:avLst/>
          </a:prstGeom>
          <a:solidFill>
            <a:srgbClr val="D26B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838979" y="-304800"/>
            <a:ext cx="3200319" cy="3810000"/>
          </a:xfrm>
          <a:prstGeom prst="ellipse">
            <a:avLst/>
          </a:prstGeom>
          <a:solidFill>
            <a:srgbClr val="3A7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52396" y="4876800"/>
            <a:ext cx="3962300" cy="2895600"/>
          </a:xfrm>
          <a:prstGeom prst="ellipse">
            <a:avLst/>
          </a:prstGeom>
          <a:solidFill>
            <a:srgbClr val="EBE0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72428" y="441960"/>
            <a:ext cx="2956486" cy="487680"/>
          </a:xfrm>
          <a:prstGeom prst="roundRect">
            <a:avLst/>
          </a:prstGeom>
          <a:solidFill>
            <a:srgbClr val="D26B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1022" y="502920"/>
            <a:ext cx="2514537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200" b="1">
                <a:solidFill>
                  <a:srgbClr val="FFFDFA"/>
                </a:solidFill>
                <a:latin typeface="Arial"/>
              </a:rPr>
              <a:t>Held-out-city transfer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1948" y="1051560"/>
            <a:ext cx="6857828" cy="19050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4000" b="1">
                <a:solidFill>
                  <a:srgbClr val="1E2A2F"/>
                </a:solidFill>
                <a:latin typeface="Arial"/>
              </a:rPr>
              <a:t>30 cities | 71.4M cells</a:t>
            </a:r>
          </a:p>
          <a:p>
            <a:pPr algn="l"/>
            <a:r>
              <a:rPr sz="4000" b="1">
                <a:solidFill>
                  <a:srgbClr val="1E2A2F"/>
                </a:solidFill>
                <a:latin typeface="Arial"/>
              </a:rPr>
              <a:t>| hotspot screening on</a:t>
            </a:r>
          </a:p>
          <a:p>
            <a:pPr algn="l"/>
            <a:r>
              <a:rPr sz="4000" b="1">
                <a:solidFill>
                  <a:srgbClr val="1E2A2F"/>
                </a:solidFill>
                <a:latin typeface="Arial"/>
              </a:rPr>
              <a:t>unseen cities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07" y="3810000"/>
            <a:ext cx="6553036" cy="655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500" b="0">
                <a:solidFill>
                  <a:srgbClr val="5C696D"/>
                </a:solidFill>
                <a:latin typeface="Arial"/>
              </a:rPr>
              <a:t>A presentation-first view of the urban heat</a:t>
            </a:r>
          </a:p>
          <a:p>
            <a:pPr algn="l"/>
            <a:r>
              <a:rPr sz="2500" b="0">
                <a:solidFill>
                  <a:srgbClr val="5C696D"/>
                </a:solidFill>
                <a:latin typeface="Arial"/>
              </a:rPr>
              <a:t>transfer benchmark.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96007" y="838200"/>
            <a:ext cx="3962300" cy="4572000"/>
          </a:xfrm>
          <a:prstGeom prst="roundRect">
            <a:avLst/>
          </a:prstGeom>
          <a:solidFill>
            <a:srgbClr val="FFF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985560" y="1188720"/>
            <a:ext cx="3383195" cy="594360"/>
          </a:xfrm>
          <a:prstGeom prst="roundRect">
            <a:avLst/>
          </a:prstGeom>
          <a:solidFill>
            <a:srgbClr val="3A7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7956" y="1310640"/>
            <a:ext cx="3139361" cy="3200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2300" b="1">
                <a:solidFill>
                  <a:srgbClr val="FFFDFA"/>
                </a:solidFill>
                <a:latin typeface="Arial"/>
              </a:rPr>
              <a:t>What the talk shows</a:t>
            </a:r>
          </a:p>
        </p:txBody>
      </p:sp>
      <p:sp>
        <p:nvSpPr>
          <p:cNvPr id="12" name="Oval 11"/>
          <p:cNvSpPr/>
          <p:nvPr/>
        </p:nvSpPr>
        <p:spPr>
          <a:xfrm>
            <a:off x="8153196" y="2240280"/>
            <a:ext cx="137156" cy="137160"/>
          </a:xfrm>
          <a:prstGeom prst="ellipse">
            <a:avLst/>
          </a:prstGeom>
          <a:solidFill>
            <a:srgbClr val="D26B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34186" y="2133600"/>
            <a:ext cx="2362140" cy="838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400" b="1">
                <a:solidFill>
                  <a:srgbClr val="1E2A2F"/>
                </a:solidFill>
                <a:latin typeface="Arial"/>
              </a:rPr>
              <a:t>why cross-city</a:t>
            </a:r>
          </a:p>
          <a:p>
            <a:pPr algn="l"/>
            <a:r>
              <a:rPr sz="2400" b="1">
                <a:solidFill>
                  <a:srgbClr val="1E2A2F"/>
                </a:solidFill>
                <a:latin typeface="Arial"/>
              </a:rPr>
              <a:t>transfer is the real</a:t>
            </a:r>
          </a:p>
          <a:p>
            <a:pPr algn="l"/>
            <a:r>
              <a:rPr sz="2400" b="1">
                <a:solidFill>
                  <a:srgbClr val="1E2A2F"/>
                </a:solidFill>
                <a:latin typeface="Arial"/>
              </a:rPr>
              <a:t>test</a:t>
            </a:r>
          </a:p>
        </p:txBody>
      </p:sp>
      <p:sp>
        <p:nvSpPr>
          <p:cNvPr id="14" name="Oval 13"/>
          <p:cNvSpPr/>
          <p:nvPr/>
        </p:nvSpPr>
        <p:spPr>
          <a:xfrm>
            <a:off x="8153196" y="3108960"/>
            <a:ext cx="137156" cy="137160"/>
          </a:xfrm>
          <a:prstGeom prst="ellipse">
            <a:avLst/>
          </a:prstGeom>
          <a:solidFill>
            <a:srgbClr val="D26B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34186" y="3002280"/>
            <a:ext cx="2362140" cy="838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400" b="1">
                <a:solidFill>
                  <a:srgbClr val="1E2A2F"/>
                </a:solidFill>
                <a:latin typeface="Arial"/>
              </a:rPr>
              <a:t>how 30-city</a:t>
            </a:r>
          </a:p>
          <a:p>
            <a:pPr algn="l"/>
            <a:r>
              <a:rPr sz="2400" b="1">
                <a:solidFill>
                  <a:srgbClr val="1E2A2F"/>
                </a:solidFill>
                <a:latin typeface="Arial"/>
              </a:rPr>
              <a:t>evaluation stays</a:t>
            </a:r>
          </a:p>
          <a:p>
            <a:pPr algn="l"/>
            <a:r>
              <a:rPr sz="2400" b="1">
                <a:solidFill>
                  <a:srgbClr val="1E2A2F"/>
                </a:solidFill>
                <a:latin typeface="Arial"/>
              </a:rPr>
              <a:t>leakage-safe</a:t>
            </a:r>
          </a:p>
        </p:txBody>
      </p:sp>
      <p:sp>
        <p:nvSpPr>
          <p:cNvPr id="16" name="Oval 15"/>
          <p:cNvSpPr/>
          <p:nvPr/>
        </p:nvSpPr>
        <p:spPr>
          <a:xfrm>
            <a:off x="8153196" y="3977639"/>
            <a:ext cx="137156" cy="137160"/>
          </a:xfrm>
          <a:prstGeom prst="ellipse">
            <a:avLst/>
          </a:prstGeom>
          <a:solidFill>
            <a:srgbClr val="D26B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34186" y="3870960"/>
            <a:ext cx="2362140" cy="838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400" b="1">
                <a:solidFill>
                  <a:srgbClr val="1E2A2F"/>
                </a:solidFill>
                <a:latin typeface="Arial"/>
              </a:rPr>
              <a:t>where RF helps</a:t>
            </a:r>
          </a:p>
          <a:p>
            <a:pPr algn="l"/>
            <a:r>
              <a:rPr sz="2400" b="1">
                <a:solidFill>
                  <a:srgbClr val="1E2A2F"/>
                </a:solidFill>
                <a:latin typeface="Arial"/>
              </a:rPr>
              <a:t>and where</a:t>
            </a:r>
          </a:p>
          <a:p>
            <a:pPr algn="l"/>
            <a:r>
              <a:rPr sz="2400" b="1">
                <a:solidFill>
                  <a:srgbClr val="1E2A2F"/>
                </a:solidFill>
                <a:latin typeface="Arial"/>
              </a:rPr>
              <a:t>uncertainty</a:t>
            </a:r>
          </a:p>
          <a:p>
            <a:pPr algn="l"/>
            <a:r>
              <a:rPr sz="2400" b="1">
                <a:solidFill>
                  <a:srgbClr val="1E2A2F"/>
                </a:solidFill>
                <a:latin typeface="Arial"/>
              </a:rPr>
              <a:t>remains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2428" y="6050280"/>
            <a:ext cx="11185880" cy="533400"/>
          </a:xfrm>
          <a:prstGeom prst="roundRect">
            <a:avLst/>
          </a:prstGeom>
          <a:solidFill>
            <a:srgbClr val="EBE0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1022" y="6187440"/>
            <a:ext cx="9753356" cy="2438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000" b="0">
                <a:solidFill>
                  <a:srgbClr val="254D5A"/>
                </a:solidFill>
                <a:latin typeface="Arial"/>
              </a:rPr>
              <a:t>Max Clements   |   STAT 5630 Final Project   |   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924601" y="-304800"/>
            <a:ext cx="3809904" cy="2438400"/>
          </a:xfrm>
          <a:prstGeom prst="ellipse">
            <a:avLst/>
          </a:prstGeom>
          <a:solidFill>
            <a:srgbClr val="D26B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04792" y="5029200"/>
            <a:ext cx="3200319" cy="2286000"/>
          </a:xfrm>
          <a:prstGeom prst="ellipse">
            <a:avLst/>
          </a:prstGeom>
          <a:solidFill>
            <a:srgbClr val="3A7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69" y="411479"/>
            <a:ext cx="3398435" cy="1158240"/>
          </a:xfrm>
          <a:prstGeom prst="roundRect">
            <a:avLst/>
          </a:prstGeom>
          <a:solidFill>
            <a:srgbClr val="FFFAF2"/>
          </a:solidFill>
          <a:ln w="12700">
            <a:solidFill>
              <a:srgbClr val="DBC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4824" y="609600"/>
            <a:ext cx="2986965" cy="2590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400" b="1">
                <a:solidFill>
                  <a:srgbClr val="1E2A2F"/>
                </a:solidFill>
                <a:latin typeface="Arial"/>
              </a:rPr>
              <a:t>Heat risk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24" y="960120"/>
            <a:ext cx="2956486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900" b="0">
                <a:solidFill>
                  <a:srgbClr val="5C696D"/>
                </a:solidFill>
                <a:latin typeface="Arial"/>
              </a:rPr>
              <a:t>public health + planning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75655" y="411479"/>
            <a:ext cx="3398435" cy="1158240"/>
          </a:xfrm>
          <a:prstGeom prst="roundRect">
            <a:avLst/>
          </a:prstGeom>
          <a:solidFill>
            <a:srgbClr val="FFFAF2"/>
          </a:solidFill>
          <a:ln w="12700">
            <a:solidFill>
              <a:srgbClr val="DBC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010" y="609600"/>
            <a:ext cx="2986965" cy="2590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400" b="1">
                <a:solidFill>
                  <a:srgbClr val="1E2A2F"/>
                </a:solidFill>
                <a:latin typeface="Arial"/>
              </a:rPr>
              <a:t>Cities differ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010" y="960120"/>
            <a:ext cx="2956486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900" b="0">
                <a:solidFill>
                  <a:srgbClr val="5C696D"/>
                </a:solidFill>
                <a:latin typeface="Arial"/>
              </a:rPr>
              <a:t>climate, land cover, water,</a:t>
            </a:r>
          </a:p>
          <a:p>
            <a:pPr algn="l"/>
            <a:r>
              <a:rPr sz="1900" b="0">
                <a:solidFill>
                  <a:srgbClr val="5C696D"/>
                </a:solidFill>
                <a:latin typeface="Arial"/>
              </a:rPr>
              <a:t>vegetation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39841" y="411479"/>
            <a:ext cx="3398435" cy="1158240"/>
          </a:xfrm>
          <a:prstGeom prst="roundRect">
            <a:avLst/>
          </a:prstGeom>
          <a:solidFill>
            <a:srgbClr val="FFFAF2"/>
          </a:solidFill>
          <a:ln w="12700">
            <a:solidFill>
              <a:srgbClr val="DBC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53196" y="609600"/>
            <a:ext cx="2986965" cy="2590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400" b="1">
                <a:solidFill>
                  <a:srgbClr val="1E2A2F"/>
                </a:solidFill>
                <a:latin typeface="Arial"/>
              </a:rPr>
              <a:t>Random row splits mislead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53196" y="960120"/>
            <a:ext cx="2956486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900" b="0">
                <a:solidFill>
                  <a:srgbClr val="5C696D"/>
                </a:solidFill>
                <a:latin typeface="Arial"/>
              </a:rPr>
              <a:t>same-city leakage looks</a:t>
            </a:r>
          </a:p>
          <a:p>
            <a:pPr algn="l"/>
            <a:r>
              <a:rPr sz="1900" b="0">
                <a:solidFill>
                  <a:srgbClr val="5C696D"/>
                </a:solidFill>
                <a:latin typeface="Arial"/>
              </a:rPr>
              <a:t>easier than transfer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188" y="1889759"/>
            <a:ext cx="11277318" cy="2819399"/>
          </a:xfrm>
          <a:prstGeom prst="roundRect">
            <a:avLst/>
          </a:prstGeom>
          <a:solidFill>
            <a:srgbClr val="FFFDFA"/>
          </a:solidFill>
          <a:ln w="19050">
            <a:solidFill>
              <a:srgbClr val="DBC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939" y="2225040"/>
            <a:ext cx="2392620" cy="487680"/>
          </a:xfrm>
          <a:prstGeom prst="roundRect">
            <a:avLst/>
          </a:prstGeom>
          <a:solidFill>
            <a:srgbClr val="9A4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6294" y="2346960"/>
            <a:ext cx="1965910" cy="2286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300" b="1">
                <a:solidFill>
                  <a:srgbClr val="FFFDFA"/>
                </a:solidFill>
                <a:latin typeface="Arial"/>
              </a:rPr>
              <a:t>Core question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58" y="3017520"/>
            <a:ext cx="9905752" cy="1295399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3300" b="1">
                <a:solidFill>
                  <a:srgbClr val="1E2A2F"/>
                </a:solidFill>
                <a:latin typeface="Arial"/>
              </a:rPr>
              <a:t>Can a model trained on some cities find</a:t>
            </a:r>
          </a:p>
          <a:p>
            <a:pPr algn="l"/>
            <a:r>
              <a:rPr sz="3300" b="1">
                <a:solidFill>
                  <a:srgbClr val="1E2A2F"/>
                </a:solidFill>
                <a:latin typeface="Arial"/>
              </a:rPr>
              <a:t>heat hotspots in a city it has never</a:t>
            </a:r>
          </a:p>
          <a:p>
            <a:pPr algn="l"/>
            <a:r>
              <a:rPr sz="3300" b="1">
                <a:solidFill>
                  <a:srgbClr val="1E2A2F"/>
                </a:solidFill>
                <a:latin typeface="Arial"/>
              </a:rPr>
              <a:t>seen?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17284" y="5455920"/>
            <a:ext cx="9357126" cy="670560"/>
          </a:xfrm>
          <a:prstGeom prst="roundRect">
            <a:avLst/>
          </a:prstGeom>
          <a:solidFill>
            <a:srgbClr val="DF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30639" y="5623559"/>
            <a:ext cx="8991375" cy="2895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2300" b="1">
                <a:solidFill>
                  <a:srgbClr val="254D5A"/>
                </a:solidFill>
                <a:latin typeface="Arial"/>
              </a:rPr>
              <a:t>This is a transfer benchmark, not same-city interpolation.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448563" y="5334000"/>
            <a:ext cx="2895527" cy="1981199"/>
          </a:xfrm>
          <a:prstGeom prst="ellipse">
            <a:avLst/>
          </a:prstGeom>
          <a:solidFill>
            <a:srgbClr val="3A7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80990" y="320040"/>
            <a:ext cx="2285942" cy="1371600"/>
          </a:xfrm>
          <a:prstGeom prst="roundRect">
            <a:avLst/>
          </a:prstGeom>
          <a:solidFill>
            <a:srgbClr val="FFFAF2"/>
          </a:solidFill>
          <a:ln w="12700">
            <a:solidFill>
              <a:srgbClr val="DBC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05" y="563880"/>
            <a:ext cx="1889712" cy="411479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5000" b="1">
                <a:solidFill>
                  <a:srgbClr val="1E2A2F"/>
                </a:solidFill>
                <a:latin typeface="Arial"/>
              </a:rPr>
              <a:t>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05" y="1143000"/>
            <a:ext cx="1523961" cy="2286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000" b="0">
                <a:solidFill>
                  <a:srgbClr val="5C696D"/>
                </a:solidFill>
                <a:latin typeface="Arial"/>
              </a:rPr>
              <a:t>cities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73610" y="320040"/>
            <a:ext cx="2285942" cy="1371600"/>
          </a:xfrm>
          <a:prstGeom prst="roundRect">
            <a:avLst/>
          </a:prstGeom>
          <a:solidFill>
            <a:srgbClr val="FFFAF2"/>
          </a:solidFill>
          <a:ln w="12700">
            <a:solidFill>
              <a:srgbClr val="DBC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71725" y="563880"/>
            <a:ext cx="1889712" cy="411479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4400" b="1">
                <a:solidFill>
                  <a:srgbClr val="1E2A2F"/>
                </a:solidFill>
                <a:latin typeface="Arial"/>
              </a:rPr>
              <a:t>71,394,894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1725" y="1143000"/>
            <a:ext cx="1523961" cy="2286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000" b="0">
                <a:solidFill>
                  <a:srgbClr val="5C696D"/>
                </a:solidFill>
                <a:latin typeface="Arial"/>
              </a:rPr>
              <a:t>rows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66230" y="320040"/>
            <a:ext cx="2285942" cy="1371600"/>
          </a:xfrm>
          <a:prstGeom prst="roundRect">
            <a:avLst/>
          </a:prstGeom>
          <a:solidFill>
            <a:srgbClr val="FFFAF2"/>
          </a:solidFill>
          <a:ln w="12700">
            <a:solidFill>
              <a:srgbClr val="DBC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4345" y="563880"/>
            <a:ext cx="1889712" cy="411479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5000" b="1">
                <a:solidFill>
                  <a:srgbClr val="1E2A2F"/>
                </a:solidFill>
                <a:latin typeface="Arial"/>
              </a:rPr>
              <a:t>30 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64345" y="1143000"/>
            <a:ext cx="1523961" cy="2286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000" b="0">
                <a:solidFill>
                  <a:srgbClr val="5C696D"/>
                </a:solidFill>
                <a:latin typeface="Arial"/>
              </a:rPr>
              <a:t>grid cell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58851" y="320040"/>
            <a:ext cx="2285942" cy="1371600"/>
          </a:xfrm>
          <a:prstGeom prst="roundRect">
            <a:avLst/>
          </a:prstGeom>
          <a:solidFill>
            <a:srgbClr val="FFFAF2"/>
          </a:solidFill>
          <a:ln w="12700">
            <a:solidFill>
              <a:srgbClr val="DBC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56966" y="563880"/>
            <a:ext cx="1889712" cy="411479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3600" b="1">
                <a:solidFill>
                  <a:srgbClr val="1E2A2F"/>
                </a:solidFill>
                <a:latin typeface="Arial"/>
              </a:rPr>
              <a:t>hotspot_10pct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56966" y="1143000"/>
            <a:ext cx="1523961" cy="2286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000" b="0">
                <a:solidFill>
                  <a:srgbClr val="5C696D"/>
                </a:solidFill>
                <a:latin typeface="Arial"/>
              </a:rPr>
              <a:t>target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966710" y="320040"/>
            <a:ext cx="1828754" cy="1371600"/>
          </a:xfrm>
          <a:prstGeom prst="roundRect">
            <a:avLst/>
          </a:prstGeom>
          <a:solidFill>
            <a:srgbClr val="D26B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30576" y="579120"/>
            <a:ext cx="685782" cy="396239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5000" b="1">
                <a:solidFill>
                  <a:srgbClr val="FFFDFA"/>
                </a:solidFill>
                <a:latin typeface="Arial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10544" y="1143000"/>
            <a:ext cx="1371565" cy="2438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2200" b="0">
                <a:solidFill>
                  <a:srgbClr val="FFFDFA"/>
                </a:solidFill>
                <a:latin typeface="Arial"/>
              </a:rPr>
              <a:t>outer folds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0990" y="2087880"/>
            <a:ext cx="7177860" cy="4099560"/>
          </a:xfrm>
          <a:prstGeom prst="roundRect">
            <a:avLst/>
          </a:prstGeom>
          <a:solidFill>
            <a:srgbClr val="FFFDFA"/>
          </a:solidFill>
          <a:ln w="12700">
            <a:solidFill>
              <a:srgbClr val="DBC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63" y="2346960"/>
            <a:ext cx="2301182" cy="518160"/>
          </a:xfrm>
          <a:prstGeom prst="roundRect">
            <a:avLst/>
          </a:prstGeom>
          <a:solidFill>
            <a:srgbClr val="3A7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3897" y="2468879"/>
            <a:ext cx="1752556" cy="2438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2400" b="1">
                <a:solidFill>
                  <a:srgbClr val="FFFDFA"/>
                </a:solidFill>
                <a:latin typeface="Arial"/>
              </a:rPr>
              <a:t>Analytic unit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0543" y="3185160"/>
            <a:ext cx="6400639" cy="8534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200" b="0">
                <a:solidFill>
                  <a:srgbClr val="1E2A2F"/>
                </a:solidFill>
                <a:latin typeface="Arial"/>
              </a:rPr>
              <a:t>One row = one 30 m cell in one city. Predictors</a:t>
            </a:r>
          </a:p>
          <a:p>
            <a:pPr algn="l"/>
            <a:r>
              <a:rPr sz="2200" b="0">
                <a:solidFill>
                  <a:srgbClr val="1E2A2F"/>
                </a:solidFill>
                <a:latin typeface="Arial"/>
              </a:rPr>
              <a:t>summarize built form, terrain, water, vegetation,</a:t>
            </a:r>
          </a:p>
          <a:p>
            <a:pPr algn="l"/>
            <a:r>
              <a:rPr sz="2200" b="0">
                <a:solidFill>
                  <a:srgbClr val="1E2A2F"/>
                </a:solidFill>
                <a:latin typeface="Arial"/>
              </a:rPr>
              <a:t>and climate context.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205" y="2087880"/>
            <a:ext cx="4023259" cy="4099560"/>
          </a:xfrm>
          <a:prstGeom prst="roundRect">
            <a:avLst/>
          </a:prstGeom>
          <a:solidFill>
            <a:srgbClr val="FFFAF2"/>
          </a:solidFill>
          <a:ln w="12700">
            <a:solidFill>
              <a:srgbClr val="DBC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955081" y="2346960"/>
            <a:ext cx="3657508" cy="518160"/>
          </a:xfrm>
          <a:prstGeom prst="roundRect">
            <a:avLst/>
          </a:prstGeom>
          <a:solidFill>
            <a:srgbClr val="9A4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53196" y="2468879"/>
            <a:ext cx="3276518" cy="2438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2200" b="1">
                <a:solidFill>
                  <a:srgbClr val="FFFDFA"/>
                </a:solidFill>
                <a:latin typeface="Arial"/>
              </a:rPr>
              <a:t>Leakage-safe benchmark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00799" y="3200400"/>
            <a:ext cx="3291757" cy="990599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100" b="0">
                <a:solidFill>
                  <a:srgbClr val="1E2A2F"/>
                </a:solidFill>
                <a:latin typeface="Arial"/>
              </a:rPr>
              <a:t>6 held-out cities per fold.</a:t>
            </a:r>
          </a:p>
          <a:p>
            <a:pPr algn="l"/>
            <a:r>
              <a:rPr sz="2100" b="0">
                <a:solidFill>
                  <a:srgbClr val="1E2A2F"/>
                </a:solidFill>
                <a:latin typeface="Arial"/>
              </a:rPr>
              <a:t>Preprocessing, tuning,</a:t>
            </a:r>
          </a:p>
          <a:p>
            <a:pPr algn="l"/>
            <a:r>
              <a:rPr sz="2100" b="0">
                <a:solidFill>
                  <a:srgbClr val="1E2A2F"/>
                </a:solidFill>
                <a:latin typeface="Arial"/>
              </a:rPr>
              <a:t>and model fitting use</a:t>
            </a:r>
          </a:p>
          <a:p>
            <a:pPr algn="l"/>
            <a:r>
              <a:rPr sz="2100" b="0">
                <a:solidFill>
                  <a:srgbClr val="1E2A2F"/>
                </a:solidFill>
                <a:latin typeface="Arial"/>
              </a:rPr>
              <a:t>training-city rows only.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782" y="4937759"/>
            <a:ext cx="1615399" cy="807720"/>
          </a:xfrm>
          <a:prstGeom prst="roundRect">
            <a:avLst/>
          </a:prstGeom>
          <a:solidFill>
            <a:srgbClr val="3A7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39" y="5074920"/>
            <a:ext cx="1341086" cy="5334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800" b="1">
                <a:solidFill>
                  <a:srgbClr val="FFFDFA"/>
                </a:solidFill>
                <a:latin typeface="Arial"/>
              </a:rPr>
              <a:t>Assemble</a:t>
            </a:r>
          </a:p>
          <a:p>
            <a:pPr algn="ctr"/>
            <a:r>
              <a:rPr sz="1800" b="1">
                <a:solidFill>
                  <a:srgbClr val="FFFDFA"/>
                </a:solidFill>
                <a:latin typeface="Arial"/>
              </a:rPr>
              <a:t>features</a:t>
            </a:r>
          </a:p>
        </p:txBody>
      </p:sp>
      <p:sp>
        <p:nvSpPr>
          <p:cNvPr id="28" name="Chevron 27"/>
          <p:cNvSpPr/>
          <p:nvPr/>
        </p:nvSpPr>
        <p:spPr>
          <a:xfrm>
            <a:off x="2438339" y="5196840"/>
            <a:ext cx="304792" cy="304800"/>
          </a:xfrm>
          <a:prstGeom prst="chevron">
            <a:avLst/>
          </a:prstGeom>
          <a:solidFill>
            <a:srgbClr val="5C69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926006" y="4937759"/>
            <a:ext cx="1737316" cy="807720"/>
          </a:xfrm>
          <a:prstGeom prst="roundRect">
            <a:avLst/>
          </a:prstGeom>
          <a:solidFill>
            <a:srgbClr val="8AA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63163" y="5074920"/>
            <a:ext cx="1463003" cy="5334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800" b="1">
                <a:solidFill>
                  <a:srgbClr val="FFFDFA"/>
                </a:solidFill>
                <a:latin typeface="Arial"/>
              </a:rPr>
              <a:t>Train on 24</a:t>
            </a:r>
          </a:p>
          <a:p>
            <a:pPr algn="ctr"/>
            <a:r>
              <a:rPr sz="1800" b="1">
                <a:solidFill>
                  <a:srgbClr val="FFFDFA"/>
                </a:solidFill>
                <a:latin typeface="Arial"/>
              </a:rPr>
              <a:t>cities</a:t>
            </a:r>
          </a:p>
        </p:txBody>
      </p:sp>
      <p:sp>
        <p:nvSpPr>
          <p:cNvPr id="31" name="Chevron 30"/>
          <p:cNvSpPr/>
          <p:nvPr/>
        </p:nvSpPr>
        <p:spPr>
          <a:xfrm>
            <a:off x="4800479" y="5196840"/>
            <a:ext cx="304792" cy="304800"/>
          </a:xfrm>
          <a:prstGeom prst="chevron">
            <a:avLst/>
          </a:prstGeom>
          <a:solidFill>
            <a:srgbClr val="5C69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288147" y="4937759"/>
            <a:ext cx="1737316" cy="807720"/>
          </a:xfrm>
          <a:prstGeom prst="roundRect">
            <a:avLst/>
          </a:prstGeom>
          <a:solidFill>
            <a:srgbClr val="D26B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25304" y="5074920"/>
            <a:ext cx="1463003" cy="5334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800" b="1">
                <a:solidFill>
                  <a:srgbClr val="FFFDFA"/>
                </a:solidFill>
                <a:latin typeface="Arial"/>
              </a:rPr>
              <a:t>Tune on</a:t>
            </a:r>
          </a:p>
          <a:p>
            <a:pPr algn="ctr"/>
            <a:r>
              <a:rPr sz="1800" b="1">
                <a:solidFill>
                  <a:srgbClr val="FFFDFA"/>
                </a:solidFill>
                <a:latin typeface="Arial"/>
              </a:rPr>
              <a:t>train only</a:t>
            </a:r>
          </a:p>
        </p:txBody>
      </p:sp>
      <p:sp>
        <p:nvSpPr>
          <p:cNvPr id="34" name="Chevron 33"/>
          <p:cNvSpPr/>
          <p:nvPr/>
        </p:nvSpPr>
        <p:spPr>
          <a:xfrm>
            <a:off x="7162620" y="5196840"/>
            <a:ext cx="304792" cy="304800"/>
          </a:xfrm>
          <a:prstGeom prst="chevron">
            <a:avLst/>
          </a:prstGeom>
          <a:solidFill>
            <a:srgbClr val="5C69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650288" y="4937759"/>
            <a:ext cx="1874473" cy="807720"/>
          </a:xfrm>
          <a:prstGeom prst="roundRect">
            <a:avLst/>
          </a:prstGeom>
          <a:solidFill>
            <a:srgbClr val="9A4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87445" y="5074920"/>
            <a:ext cx="1600159" cy="5334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800" b="1">
                <a:solidFill>
                  <a:srgbClr val="FFFDFA"/>
                </a:solidFill>
                <a:latin typeface="Arial"/>
              </a:rPr>
              <a:t>Score 6</a:t>
            </a:r>
          </a:p>
          <a:p>
            <a:pPr algn="ctr"/>
            <a:r>
              <a:rPr sz="1800" b="1">
                <a:solidFill>
                  <a:srgbClr val="FFFDFA"/>
                </a:solidFill>
                <a:latin typeface="Arial"/>
              </a:rPr>
              <a:t>unseen cities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9073" y="259080"/>
            <a:ext cx="3444153" cy="6172200"/>
          </a:xfrm>
          <a:prstGeom prst="roundRect">
            <a:avLst/>
          </a:prstGeom>
          <a:solidFill>
            <a:srgbClr val="FFFAF2"/>
          </a:solidFill>
          <a:ln w="12700">
            <a:solidFill>
              <a:srgbClr val="DBC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41948" y="518160"/>
            <a:ext cx="3078403" cy="441960"/>
          </a:xfrm>
          <a:prstGeom prst="roundRect">
            <a:avLst/>
          </a:prstGeom>
          <a:solidFill>
            <a:srgbClr val="3A7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4824" y="624840"/>
            <a:ext cx="2712652" cy="198119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800" b="1">
                <a:solidFill>
                  <a:srgbClr val="FFFDFA"/>
                </a:solidFill>
                <a:latin typeface="Arial"/>
              </a:rPr>
              <a:t>Same predictor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1948" y="1112520"/>
            <a:ext cx="2849808" cy="838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000" b="0">
                <a:solidFill>
                  <a:srgbClr val="1E2A2F"/>
                </a:solidFill>
                <a:latin typeface="Arial"/>
              </a:rPr>
              <a:t>Inputs exclude LST itself.</a:t>
            </a:r>
          </a:p>
          <a:p>
            <a:pPr algn="l"/>
            <a:r>
              <a:rPr sz="2000" b="0">
                <a:solidFill>
                  <a:srgbClr val="1E2A2F"/>
                </a:solidFill>
                <a:latin typeface="Arial"/>
              </a:rPr>
              <a:t>The comparison isolates</a:t>
            </a:r>
          </a:p>
          <a:p>
            <a:pPr algn="l"/>
            <a:r>
              <a:rPr sz="2000" b="0">
                <a:solidFill>
                  <a:srgbClr val="1E2A2F"/>
                </a:solidFill>
                <a:latin typeface="Arial"/>
              </a:rPr>
              <a:t>linear vs nonlinear</a:t>
            </a:r>
          </a:p>
          <a:p>
            <a:pPr algn="l"/>
            <a:r>
              <a:rPr sz="2000" b="0">
                <a:solidFill>
                  <a:srgbClr val="1E2A2F"/>
                </a:solidFill>
                <a:latin typeface="Arial"/>
              </a:rPr>
              <a:t>transfer behavior.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07" y="1935480"/>
            <a:ext cx="2956486" cy="1600200"/>
          </a:xfrm>
          <a:prstGeom prst="roundRect">
            <a:avLst/>
          </a:prstGeom>
          <a:solidFill>
            <a:srgbClr val="FFFDFA"/>
          </a:solidFill>
          <a:ln w="12700">
            <a:solidFill>
              <a:srgbClr val="D9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1022" y="2087880"/>
            <a:ext cx="2285942" cy="2133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200" b="1">
                <a:solidFill>
                  <a:srgbClr val="1E2A2F"/>
                </a:solidFill>
                <a:latin typeface="Arial"/>
              </a:rPr>
              <a:t>Logistic regression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1022" y="2453640"/>
            <a:ext cx="2285942" cy="5334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900" b="1">
                <a:solidFill>
                  <a:srgbClr val="9A402D"/>
                </a:solidFill>
                <a:latin typeface="Arial"/>
              </a:rPr>
              <a:t>Pr(Y=1|x) = σ(β₀ + xᵀβ)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1022" y="3032760"/>
            <a:ext cx="2209744" cy="2286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700" b="0">
                <a:solidFill>
                  <a:srgbClr val="5C696D"/>
                </a:solidFill>
                <a:latin typeface="Arial"/>
              </a:rPr>
              <a:t>Linear additive baseline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07" y="3627119"/>
            <a:ext cx="2956486" cy="1600200"/>
          </a:xfrm>
          <a:prstGeom prst="roundRect">
            <a:avLst/>
          </a:prstGeom>
          <a:solidFill>
            <a:srgbClr val="FFFDFA"/>
          </a:solidFill>
          <a:ln w="12700">
            <a:solidFill>
              <a:srgbClr val="D9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1022" y="3779519"/>
            <a:ext cx="2285942" cy="2133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200" b="1">
                <a:solidFill>
                  <a:srgbClr val="1E2A2F"/>
                </a:solidFill>
                <a:latin typeface="Arial"/>
              </a:rPr>
              <a:t>Random forest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1022" y="4145280"/>
            <a:ext cx="2285942" cy="5334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900" b="1">
                <a:solidFill>
                  <a:srgbClr val="9A402D"/>
                </a:solidFill>
                <a:latin typeface="Arial"/>
              </a:rPr>
              <a:t>p̂(x) = (1/B) Σ T_b(x)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1022" y="4739640"/>
            <a:ext cx="2316422" cy="3048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700" b="0">
                <a:solidFill>
                  <a:srgbClr val="5C696D"/>
                </a:solidFill>
                <a:latin typeface="Arial"/>
              </a:rPr>
              <a:t>Tree ensemble for nonlinear</a:t>
            </a:r>
          </a:p>
          <a:p>
            <a:pPr algn="l"/>
            <a:r>
              <a:rPr sz="1700" b="0">
                <a:solidFill>
                  <a:srgbClr val="5C696D"/>
                </a:solidFill>
                <a:latin typeface="Arial"/>
              </a:rPr>
              <a:t>effects</a:t>
            </a:r>
          </a:p>
        </p:txBody>
      </p:sp>
      <p:pic>
        <p:nvPicPr>
          <p:cNvPr id="14" name="Picture 13" descr="cross_city_benchmark_report_benchmark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6102" y="182880"/>
            <a:ext cx="7924601" cy="359664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038499" y="4099560"/>
            <a:ext cx="2377380" cy="1280160"/>
          </a:xfrm>
          <a:prstGeom prst="roundRect">
            <a:avLst/>
          </a:prstGeom>
          <a:solidFill>
            <a:srgbClr val="9A4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51853" y="4343400"/>
            <a:ext cx="1935431" cy="761999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300" b="1">
                <a:solidFill>
                  <a:srgbClr val="FFFDFA"/>
                </a:solidFill>
                <a:latin typeface="Arial"/>
              </a:rPr>
              <a:t>RF pooled PR</a:t>
            </a:r>
          </a:p>
          <a:p>
            <a:pPr algn="l"/>
            <a:r>
              <a:rPr sz="2300" b="1">
                <a:solidFill>
                  <a:srgbClr val="FFFDFA"/>
                </a:solidFill>
                <a:latin typeface="Arial"/>
              </a:rPr>
              <a:t>AUC</a:t>
            </a:r>
          </a:p>
          <a:p>
            <a:pPr algn="l"/>
            <a:r>
              <a:rPr sz="2300" b="1">
                <a:solidFill>
                  <a:srgbClr val="FFFDFA"/>
                </a:solidFill>
                <a:latin typeface="Arial"/>
              </a:rPr>
              <a:t>0.1486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90192" y="4099560"/>
            <a:ext cx="2377380" cy="1280160"/>
          </a:xfrm>
          <a:prstGeom prst="roundRect">
            <a:avLst/>
          </a:prstGeom>
          <a:solidFill>
            <a:srgbClr val="3A7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03547" y="4343400"/>
            <a:ext cx="1935431" cy="761999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300" b="1">
                <a:solidFill>
                  <a:srgbClr val="FFFDFA"/>
                </a:solidFill>
                <a:latin typeface="Arial"/>
              </a:rPr>
              <a:t>RF</a:t>
            </a:r>
          </a:p>
          <a:p>
            <a:pPr algn="l"/>
            <a:r>
              <a:rPr sz="2300" b="1">
                <a:solidFill>
                  <a:srgbClr val="FFFDFA"/>
                </a:solidFill>
                <a:latin typeface="Arial"/>
              </a:rPr>
              <a:t>recall@10%</a:t>
            </a:r>
          </a:p>
          <a:p>
            <a:pPr algn="l"/>
            <a:r>
              <a:rPr sz="2300" b="1">
                <a:solidFill>
                  <a:srgbClr val="FFFDFA"/>
                </a:solidFill>
                <a:latin typeface="Arial"/>
              </a:rPr>
              <a:t>0.1961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41886" y="4099560"/>
            <a:ext cx="2377380" cy="1280160"/>
          </a:xfrm>
          <a:prstGeom prst="roundRect">
            <a:avLst/>
          </a:prstGeom>
          <a:solidFill>
            <a:srgbClr val="EFE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55241" y="4343400"/>
            <a:ext cx="1935431" cy="761999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300" b="1">
                <a:solidFill>
                  <a:srgbClr val="1E2A2F"/>
                </a:solidFill>
                <a:latin typeface="Arial"/>
              </a:rPr>
              <a:t>Logistic mean</a:t>
            </a:r>
          </a:p>
          <a:p>
            <a:pPr algn="l"/>
            <a:r>
              <a:rPr sz="2300" b="1">
                <a:solidFill>
                  <a:srgbClr val="1E2A2F"/>
                </a:solidFill>
                <a:latin typeface="Arial"/>
              </a:rPr>
              <a:t>city PR AUC</a:t>
            </a:r>
          </a:p>
          <a:p>
            <a:pPr algn="l"/>
            <a:r>
              <a:rPr sz="2300" b="1">
                <a:solidFill>
                  <a:srgbClr val="1E2A2F"/>
                </a:solidFill>
                <a:latin typeface="Arial"/>
              </a:rPr>
              <a:t>0.1803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08019" y="5699760"/>
            <a:ext cx="7680767" cy="502920"/>
          </a:xfrm>
          <a:prstGeom prst="roundRect">
            <a:avLst/>
          </a:prstGeom>
          <a:solidFill>
            <a:srgbClr val="EBE2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82332" y="5852160"/>
            <a:ext cx="7086422" cy="198119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700" b="0">
                <a:solidFill>
                  <a:srgbClr val="5C696D"/>
                </a:solidFill>
                <a:latin typeface="Arial"/>
              </a:rPr>
              <a:t>Matched sampled all-fold checkpoints; not exhaustive 71M-cell scoring.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67635" y="152400"/>
            <a:ext cx="11856423" cy="5516880"/>
          </a:xfrm>
          <a:prstGeom prst="roundRect">
            <a:avLst/>
          </a:prstGeom>
          <a:solidFill>
            <a:srgbClr val="FFFDFA"/>
          </a:solidFill>
          <a:ln w="12700">
            <a:solidFill>
              <a:srgbClr val="DBC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enver_heldout_map_tripty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13" y="304800"/>
            <a:ext cx="11643068" cy="522732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289552" y="5882640"/>
            <a:ext cx="8000799" cy="640080"/>
          </a:xfrm>
          <a:prstGeom prst="roundRect">
            <a:avLst/>
          </a:prstGeom>
          <a:solidFill>
            <a:srgbClr val="F0E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8147" y="6050280"/>
            <a:ext cx="7467413" cy="3200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800" b="1">
                <a:solidFill>
                  <a:srgbClr val="1E2A2F"/>
                </a:solidFill>
                <a:latin typeface="Arial"/>
              </a:rPr>
              <a:t>Prediction errors remain spatially structured rather than random.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10384" y="5943600"/>
            <a:ext cx="3154601" cy="533400"/>
          </a:xfrm>
          <a:prstGeom prst="roundRect">
            <a:avLst/>
          </a:prstGeom>
          <a:solidFill>
            <a:srgbClr val="3A7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38979" y="6111239"/>
            <a:ext cx="2666933" cy="2133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2200" b="1">
                <a:solidFill>
                  <a:srgbClr val="FFFDFA"/>
                </a:solidFill>
                <a:latin typeface="Arial"/>
              </a:rPr>
              <a:t>RF frontier | hot-arid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296167" y="-380999"/>
            <a:ext cx="3200319" cy="2438400"/>
          </a:xfrm>
          <a:prstGeom prst="ellipse">
            <a:avLst/>
          </a:prstGeom>
          <a:solidFill>
            <a:srgbClr val="D26B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52396" y="5334000"/>
            <a:ext cx="3657508" cy="2133600"/>
          </a:xfrm>
          <a:prstGeom prst="ellipse">
            <a:avLst/>
          </a:prstGeom>
          <a:solidFill>
            <a:srgbClr val="3A7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50" y="365760"/>
            <a:ext cx="11460193" cy="1950720"/>
          </a:xfrm>
          <a:prstGeom prst="roundRect">
            <a:avLst/>
          </a:prstGeom>
          <a:solidFill>
            <a:srgbClr val="FFFDFA"/>
          </a:solidFill>
          <a:ln w="12700">
            <a:solidFill>
              <a:srgbClr val="DBC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5303" y="701040"/>
            <a:ext cx="10576295" cy="1295399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3400" b="1">
                <a:solidFill>
                  <a:srgbClr val="1E2A2F"/>
                </a:solidFill>
                <a:latin typeface="Arial"/>
              </a:rPr>
              <a:t>Yes: cross-city hotspot transfer is</a:t>
            </a:r>
          </a:p>
          <a:p>
            <a:pPr algn="l"/>
            <a:r>
              <a:rPr sz="3400" b="1">
                <a:solidFill>
                  <a:srgbClr val="1E2A2F"/>
                </a:solidFill>
                <a:latin typeface="Arial"/>
              </a:rPr>
              <a:t>feasible, but performance is not yet</a:t>
            </a:r>
          </a:p>
          <a:p>
            <a:pPr algn="l"/>
            <a:r>
              <a:rPr sz="3400" b="1">
                <a:solidFill>
                  <a:srgbClr val="1E2A2F"/>
                </a:solidFill>
                <a:latin typeface="Arial"/>
              </a:rPr>
              <a:t>uniform across climates.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50" y="2910840"/>
            <a:ext cx="3657508" cy="2667000"/>
          </a:xfrm>
          <a:prstGeom prst="roundRect">
            <a:avLst/>
          </a:prstGeom>
          <a:solidFill>
            <a:srgbClr val="9A4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45" y="3230880"/>
            <a:ext cx="2285942" cy="2286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400" b="1">
                <a:solidFill>
                  <a:srgbClr val="FFFDFA"/>
                </a:solidFill>
                <a:latin typeface="Arial"/>
              </a:rPr>
              <a:t>Best current signal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26" y="3825240"/>
            <a:ext cx="3291757" cy="1402080"/>
          </a:xfrm>
          <a:prstGeom prst="roundRect">
            <a:avLst/>
          </a:prstGeom>
          <a:solidFill>
            <a:srgbClr val="F8F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1022" y="4023360"/>
            <a:ext cx="2926006" cy="990599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100" b="0">
                <a:solidFill>
                  <a:srgbClr val="1E2A2F"/>
                </a:solidFill>
                <a:latin typeface="Arial"/>
              </a:rPr>
              <a:t>RF improves pooled PR</a:t>
            </a:r>
          </a:p>
          <a:p>
            <a:pPr algn="l"/>
            <a:r>
              <a:rPr sz="2100" b="0">
                <a:solidFill>
                  <a:srgbClr val="1E2A2F"/>
                </a:solidFill>
                <a:latin typeface="Arial"/>
              </a:rPr>
              <a:t>AUC (0.1486) and</a:t>
            </a:r>
          </a:p>
          <a:p>
            <a:pPr algn="l"/>
            <a:r>
              <a:rPr sz="2100" b="0">
                <a:solidFill>
                  <a:srgbClr val="1E2A2F"/>
                </a:solidFill>
                <a:latin typeface="Arial"/>
              </a:rPr>
              <a:t>recall@10% (0.1961).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7093" y="2910840"/>
            <a:ext cx="3657508" cy="2667000"/>
          </a:xfrm>
          <a:prstGeom prst="roundRect">
            <a:avLst/>
          </a:prstGeom>
          <a:solidFill>
            <a:srgbClr val="3A7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95687" y="3230880"/>
            <a:ext cx="2285942" cy="2286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400" b="1">
                <a:solidFill>
                  <a:srgbClr val="FFFDFA"/>
                </a:solidFill>
                <a:latin typeface="Arial"/>
              </a:rPr>
              <a:t>Key caveat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49968" y="3825240"/>
            <a:ext cx="3291757" cy="1402080"/>
          </a:xfrm>
          <a:prstGeom prst="roundRect">
            <a:avLst/>
          </a:prstGeom>
          <a:solidFill>
            <a:srgbClr val="F8F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02364" y="4023360"/>
            <a:ext cx="2926006" cy="990599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100" b="0">
                <a:solidFill>
                  <a:srgbClr val="1E2A2F"/>
                </a:solidFill>
                <a:latin typeface="Arial"/>
              </a:rPr>
              <a:t>The headline</a:t>
            </a:r>
          </a:p>
          <a:p>
            <a:pPr algn="l"/>
            <a:r>
              <a:rPr sz="2100" b="0">
                <a:solidFill>
                  <a:srgbClr val="1E2A2F"/>
                </a:solidFill>
                <a:latin typeface="Arial"/>
              </a:rPr>
              <a:t>comparison is the</a:t>
            </a:r>
          </a:p>
          <a:p>
            <a:pPr algn="l"/>
            <a:r>
              <a:rPr sz="2100" b="0">
                <a:solidFill>
                  <a:srgbClr val="1E2A2F"/>
                </a:solidFill>
                <a:latin typeface="Arial"/>
              </a:rPr>
              <a:t>retained sampled</a:t>
            </a:r>
          </a:p>
          <a:p>
            <a:pPr algn="l"/>
            <a:r>
              <a:rPr sz="2100" b="0">
                <a:solidFill>
                  <a:srgbClr val="1E2A2F"/>
                </a:solidFill>
                <a:latin typeface="Arial"/>
              </a:rPr>
              <a:t>all-fold benchmark path.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68435" y="2910840"/>
            <a:ext cx="3657508" cy="2667000"/>
          </a:xfrm>
          <a:prstGeom prst="roundRect">
            <a:avLst/>
          </a:prstGeom>
          <a:solidFill>
            <a:srgbClr val="E8DC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97030" y="3230880"/>
            <a:ext cx="2285942" cy="2286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400" b="1">
                <a:solidFill>
                  <a:srgbClr val="1E2A2F"/>
                </a:solidFill>
                <a:latin typeface="Arial"/>
              </a:rPr>
              <a:t>Next step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51311" y="3825240"/>
            <a:ext cx="3291757" cy="1402080"/>
          </a:xfrm>
          <a:prstGeom prst="roundRect">
            <a:avLst/>
          </a:prstGeom>
          <a:solidFill>
            <a:srgbClr val="FF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03707" y="4023360"/>
            <a:ext cx="2926006" cy="990599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100" b="0">
                <a:solidFill>
                  <a:srgbClr val="1E2A2F"/>
                </a:solidFill>
                <a:latin typeface="Arial"/>
              </a:rPr>
              <a:t>Run broader full scoring</a:t>
            </a:r>
          </a:p>
          <a:p>
            <a:pPr algn="l"/>
            <a:r>
              <a:rPr sz="2100" b="0">
                <a:solidFill>
                  <a:srgbClr val="1E2A2F"/>
                </a:solidFill>
                <a:latin typeface="Arial"/>
              </a:rPr>
              <a:t>and diagnose why</a:t>
            </a:r>
          </a:p>
          <a:p>
            <a:pPr algn="l"/>
            <a:r>
              <a:rPr sz="2100" b="0">
                <a:solidFill>
                  <a:srgbClr val="1E2A2F"/>
                </a:solidFill>
                <a:latin typeface="Arial"/>
              </a:rPr>
              <a:t>transfer shifts by</a:t>
            </a:r>
          </a:p>
          <a:p>
            <a:pPr algn="l"/>
            <a:r>
              <a:rPr sz="2100" b="0">
                <a:solidFill>
                  <a:srgbClr val="1E2A2F"/>
                </a:solidFill>
                <a:latin typeface="Arial"/>
              </a:rPr>
              <a:t>climate group.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9554" y="6248400"/>
            <a:ext cx="1676358" cy="2590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2300" b="1">
                <a:solidFill>
                  <a:srgbClr val="5C696D"/>
                </a:solidFill>
                <a:latin typeface="Arial"/>
              </a:rP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