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lements, Max (ddv5df)" userId="a6dfb0b9-8d77-4366-95a6-8c077a4ff271" providerId="ADAL" clId="{852F48AA-7239-4E52-AC6B-BA0A2EDD0361}"/>
    <pc:docChg chg="modSld">
      <pc:chgData name="Clements, Max (ddv5df)" userId="a6dfb0b9-8d77-4366-95a6-8c077a4ff271" providerId="ADAL" clId="{852F48AA-7239-4E52-AC6B-BA0A2EDD0361}" dt="2026-04-19T01:25:50.228" v="0" actId="14100"/>
      <pc:docMkLst>
        <pc:docMk/>
      </pc:docMkLst>
      <pc:sldChg chg="modSp mod">
        <pc:chgData name="Clements, Max (ddv5df)" userId="a6dfb0b9-8d77-4366-95a6-8c077a4ff271" providerId="ADAL" clId="{852F48AA-7239-4E52-AC6B-BA0A2EDD0361}" dt="2026-04-19T01:25:50.228" v="0" actId="14100"/>
        <pc:sldMkLst>
          <pc:docMk/>
          <pc:sldMk cId="0" sldId="257"/>
        </pc:sldMkLst>
        <pc:picChg chg="mod">
          <ac:chgData name="Clements, Max (ddv5df)" userId="a6dfb0b9-8d77-4366-95a6-8c077a4ff271" providerId="ADAL" clId="{852F48AA-7239-4E52-AC6B-BA0A2EDD0361}" dt="2026-04-19T01:25:50.228" v="0" actId="14100"/>
          <ac:picMkLst>
            <pc:docMk/>
            <pc:sldMk cId="0" sldId="257"/>
            <ac:picMk id="4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91375" y="-457200"/>
            <a:ext cx="2743131" cy="27432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53356" y="4267200"/>
            <a:ext cx="1676358" cy="16764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63" y="1371600"/>
            <a:ext cx="7467413" cy="190500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3900" b="1">
                <a:solidFill>
                  <a:srgbClr val="1E2A2F"/>
                </a:solidFill>
                <a:latin typeface="Arial"/>
              </a:rPr>
              <a:t>Cross-City Urban Heat</a:t>
            </a:r>
          </a:p>
          <a:p>
            <a:pPr algn="l"/>
            <a:r>
              <a:rPr sz="3900" b="1">
                <a:solidFill>
                  <a:srgbClr val="1E2A2F"/>
                </a:solidFill>
                <a:latin typeface="Arial"/>
              </a:rPr>
              <a:t>Hotspot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43" y="3398520"/>
            <a:ext cx="7010224" cy="36576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2300" b="1">
                <a:solidFill>
                  <a:srgbClr val="9A402D"/>
                </a:solidFill>
                <a:latin typeface="Arial"/>
              </a:rPr>
              <a:t>Two ways to evaluate hotspot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43" y="3855720"/>
            <a:ext cx="5333866" cy="3352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2300" b="1">
                <a:solidFill>
                  <a:srgbClr val="254D5A"/>
                </a:solidFill>
                <a:latin typeface="Arial"/>
              </a:rPr>
              <a:t>Max Clements | Nicholas Machado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26" y="6019800"/>
            <a:ext cx="10362940" cy="457200"/>
          </a:xfrm>
          <a:prstGeom prst="roundRect">
            <a:avLst/>
          </a:prstGeom>
          <a:solidFill>
            <a:srgbClr val="EBE0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01" y="6126480"/>
            <a:ext cx="9981950" cy="21336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1800" b="0">
                <a:solidFill>
                  <a:srgbClr val="254D5A"/>
                </a:solidFill>
                <a:latin typeface="Arial"/>
              </a:rPr>
              <a:t>STAT 5630 Final Project |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948" y="320040"/>
            <a:ext cx="8229394" cy="3352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Research question + predictors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31" y="853440"/>
            <a:ext cx="11551631" cy="417576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search_question_predi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67" y="1005840"/>
            <a:ext cx="11301210" cy="38404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9137" y="5273040"/>
            <a:ext cx="10362940" cy="487680"/>
          </a:xfrm>
          <a:prstGeom prst="roundRect">
            <a:avLst/>
          </a:prstGeom>
          <a:solidFill>
            <a:srgbClr val="EBE0CF"/>
          </a:solidFill>
          <a:ln w="1016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2971" y="5379720"/>
            <a:ext cx="9829554" cy="2590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ctr"/>
            <a:r>
              <a:rPr sz="1800" b="1">
                <a:solidFill>
                  <a:srgbClr val="254D5A"/>
                </a:solidFill>
                <a:latin typeface="Arial"/>
              </a:rPr>
              <a:t>The target is city-relative: the hottest 10% of 30 m cells within each city.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948" y="320040"/>
            <a:ext cx="7467413" cy="33528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Two evaluation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31" y="853440"/>
            <a:ext cx="11551631" cy="440436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wo_evaluation_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67" y="990599"/>
            <a:ext cx="11216359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90575" y="5516880"/>
            <a:ext cx="10210544" cy="27432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ctr"/>
            <a:r>
              <a:rPr sz="1800" b="1">
                <a:solidFill>
                  <a:srgbClr val="254D5A"/>
                </a:solidFill>
                <a:latin typeface="Arial"/>
              </a:rPr>
              <a:t>The split design changes the use case being measured.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274320"/>
            <a:ext cx="8381790" cy="45720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Within-city held-out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271" y="853440"/>
            <a:ext cx="11521151" cy="411480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within_city_hotsp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63" y="1005840"/>
            <a:ext cx="10911567" cy="377951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5303" y="5212080"/>
            <a:ext cx="10881087" cy="563880"/>
          </a:xfrm>
          <a:prstGeom prst="roundRect">
            <a:avLst/>
          </a:prstGeom>
          <a:solidFill>
            <a:srgbClr val="EBE0CF"/>
          </a:solidFill>
          <a:ln w="1016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095" y="5318760"/>
            <a:ext cx="10271503" cy="28956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ctr"/>
            <a:r>
              <a:rPr sz="1800" b="0">
                <a:solidFill>
                  <a:srgbClr val="5C696D"/>
                </a:solidFill>
                <a:latin typeface="Arial"/>
              </a:rPr>
              <a:t>We treat these results as within-city / row-level evidence because support counts are about 30% of each city's rows.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274320"/>
            <a:ext cx="10058148" cy="35052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City-held-out transfer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271" y="853440"/>
            <a:ext cx="11521151" cy="411480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ity_heldout_transfer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63" y="1005840"/>
            <a:ext cx="10911567" cy="377951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55303" y="5212080"/>
            <a:ext cx="10881087" cy="563880"/>
          </a:xfrm>
          <a:prstGeom prst="roundRect">
            <a:avLst/>
          </a:prstGeom>
          <a:solidFill>
            <a:srgbClr val="EBE0CF"/>
          </a:solidFill>
          <a:ln w="1016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095" y="5318760"/>
            <a:ext cx="10271503" cy="28956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ctr"/>
            <a:r>
              <a:rPr sz="1800" b="0">
                <a:solidFill>
                  <a:srgbClr val="5C696D"/>
                </a:solidFill>
                <a:latin typeface="Arial"/>
              </a:rPr>
              <a:t>To measure transfer to new cities, whole cities are withheld during model fitting and tuning.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6230" y="320040"/>
            <a:ext cx="11124921" cy="54864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2500" b="1">
                <a:solidFill>
                  <a:srgbClr val="1E2A2F"/>
                </a:solidFill>
                <a:latin typeface="Arial"/>
              </a:rPr>
              <a:t>What the contrast shows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35271" y="944879"/>
            <a:ext cx="11521151" cy="4297680"/>
          </a:xfrm>
          <a:prstGeom prst="roundRect">
            <a:avLst/>
          </a:prstGeom>
          <a:solidFill>
            <a:srgbClr val="FFFDFA"/>
          </a:solidFill>
          <a:ln w="15240">
            <a:solidFill>
              <a:srgbClr val="DBC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valuation_contrast_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47" y="1097280"/>
            <a:ext cx="11155401" cy="3947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2971" y="5516880"/>
            <a:ext cx="9905752" cy="27432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ctr"/>
            <a:r>
              <a:rPr sz="1900" b="1">
                <a:solidFill>
                  <a:srgbClr val="254D5A"/>
                </a:solidFill>
                <a:latin typeface="Arial"/>
              </a:rPr>
              <a:t>Basic factors contain real hotspot signal, but transfer to unseen cities is the hard part.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296167" y="304800"/>
            <a:ext cx="2438339" cy="2438400"/>
          </a:xfrm>
          <a:prstGeom prst="ellipse">
            <a:avLst/>
          </a:prstGeom>
          <a:solidFill>
            <a:srgbClr val="D26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753356" y="4267200"/>
            <a:ext cx="1676358" cy="1676400"/>
          </a:xfrm>
          <a:prstGeom prst="ellipse">
            <a:avLst/>
          </a:prstGeom>
          <a:solidFill>
            <a:srgbClr val="3A7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45" y="1874519"/>
            <a:ext cx="4267093" cy="670560"/>
          </a:xfrm>
          <a:prstGeom prst="rect">
            <a:avLst/>
          </a:prstGeom>
          <a:noFill/>
        </p:spPr>
        <p:txBody>
          <a:bodyPr wrap="square" lIns="50800" tIns="50800" rIns="50800" bIns="50800" anchor="t">
            <a:normAutofit/>
          </a:bodyPr>
          <a:lstStyle/>
          <a:p>
            <a:pPr algn="l"/>
            <a:r>
              <a:rPr sz="4200" b="1">
                <a:solidFill>
                  <a:srgbClr val="1E2A2F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124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Max Clements</cp:lastModifiedBy>
  <cp:revision>1</cp:revision>
  <dcterms:created xsi:type="dcterms:W3CDTF">2013-01-27T09:14:16Z</dcterms:created>
  <dcterms:modified xsi:type="dcterms:W3CDTF">2026-04-19T01:25:59Z</dcterms:modified>
  <cp:category/>
</cp:coreProperties>
</file>